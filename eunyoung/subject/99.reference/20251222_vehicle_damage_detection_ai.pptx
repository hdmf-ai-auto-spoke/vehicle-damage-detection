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27" y="-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56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75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https://tech.socarcorp.kr/data/2020/02/13/car-damage-segmentation-model.html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10183673" y="6439205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GENSPARK AI PRESENTATION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619695" y="4286707"/>
            <a:ext cx="2381098" cy="1143000"/>
          </a:xfrm>
          <a:prstGeom prst="rect">
            <a:avLst/>
          </a:prstGeom>
          <a:solidFill>
            <a:srgbClr val="00D2D3">
              <a:alpha val="10000"/>
            </a:srgbClr>
          </a:solidFill>
          <a:ln w="25400">
            <a:solidFill>
              <a:srgbClr val="00D2D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77302" y="4343400"/>
            <a:ext cx="523951" cy="181051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33995" y="4362602"/>
            <a:ext cx="486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BUMPER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234172" y="4343400"/>
            <a:ext cx="666598" cy="171907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72577" y="4343400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2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DENT 87%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858000" y="3619195"/>
            <a:ext cx="1143000" cy="761695"/>
          </a:xfrm>
          <a:prstGeom prst="rect">
            <a:avLst/>
          </a:prstGeom>
          <a:solidFill>
            <a:srgbClr val="FF9F43">
              <a:alpha val="10000"/>
            </a:srgbClr>
          </a:solidFill>
          <a:ln w="25400">
            <a:solidFill>
              <a:srgbClr val="FF9F4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15607" y="3676802"/>
            <a:ext cx="409651" cy="181051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72300" y="3696005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353605" y="3676802"/>
            <a:ext cx="247802" cy="171907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92010" y="3676802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9F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238598" y="2667305"/>
            <a:ext cx="3810305" cy="1429207"/>
          </a:xfrm>
          <a:prstGeom prst="rect">
            <a:avLst/>
          </a:prstGeom>
          <a:solidFill>
            <a:srgbClr val="FF6B6B">
              <a:alpha val="1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96205" y="2723998"/>
            <a:ext cx="409651" cy="181051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352898" y="2743200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HOOD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35117" y="2723998"/>
            <a:ext cx="875995" cy="171907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773522" y="2723998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SCRATCH 92%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38887" r="-3888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B">
              <a:alpha val="7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761695" y="1485900"/>
            <a:ext cx="952805" cy="38405"/>
          </a:xfrm>
          <a:prstGeom prst="rect">
            <a:avLst/>
          </a:prstGeom>
          <a:solidFill>
            <a:srgbClr val="00D2D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761695" y="4190695"/>
            <a:ext cx="133502" cy="152705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195474" y="4190695"/>
            <a:ext cx="190195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61695" y="5009998"/>
            <a:ext cx="1123798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037283" y="5009998"/>
            <a:ext cx="914400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103474" y="5009998"/>
            <a:ext cx="1343254" cy="362102"/>
          </a:xfrm>
          <a:prstGeom prst="roundRect">
            <a:avLst>
              <a:gd name="adj" fmla="val 26582"/>
            </a:avLst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61695" y="1695298"/>
            <a:ext cx="49633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이미지 인식 및</a:t>
            </a:r>
            <a:endParaRPr lang="en-US" sz="45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2409444"/>
            <a:ext cx="43434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파손탐지 AI 모델</a:t>
            </a:r>
            <a:endParaRPr lang="en-US" sz="45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3295498"/>
            <a:ext cx="3805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기술과 산업 적용 사례</a:t>
            </a:r>
            <a:endParaRPr lang="en-US" sz="2200" dirty="0"/>
          </a:p>
        </p:txBody>
      </p:sp>
      <p:sp>
        <p:nvSpPr>
          <p:cNvPr id="34" name="Text 27"/>
          <p:cNvSpPr txBox="1"/>
          <p:nvPr/>
        </p:nvSpPr>
        <p:spPr>
          <a:xfrm>
            <a:off x="1009498" y="4143146"/>
            <a:ext cx="1014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2025-12-22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2499970" y="4143146"/>
            <a:ext cx="2319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&amp; Computer Vision Team</a:t>
            </a:r>
            <a:endParaRPr lang="en-US" sz="13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3544" y="5131613"/>
            <a:ext cx="133502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33856" y="50959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v11</a:t>
            </a:r>
            <a:endParaRPr lang="en-US" sz="10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2199132" y="5131613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2427732" y="5095951"/>
            <a:ext cx="462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U-Net</a:t>
            </a:r>
            <a:endParaRPr lang="en-US" sz="10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3265322" y="5131613"/>
            <a:ext cx="171907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513125" y="5095951"/>
            <a:ext cx="872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25505" y="11430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29707" y="952805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및 배경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29707" y="1333195"/>
            <a:ext cx="2619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파손 탐지의 필요성과 AI 도입 효과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0" y="972007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D2D3"/>
          </a:solidFill>
          <a:ln/>
          <a:effectLst>
            <a:outerShdw blurRad="190500" dist="101600" dir="5400000" algn="bl" rotWithShape="0">
              <a:srgbClr val="00D2D3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86707" y="685800"/>
            <a:ext cx="1143000" cy="1143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18304" y="1086307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25505" y="213329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29707" y="1943100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딥러닝 모델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429707" y="2324405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YOLO, U-Net, Mask R-CNN 등 핵심 알고리즘 분석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0" y="19623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D2D3"/>
          </a:solidFill>
          <a:ln/>
          <a:effectLst>
            <a:outerShdw blurRad="190500" dist="101600" dir="5400000" algn="bl" rotWithShape="0">
              <a:srgbClr val="00D2D3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86707" y="1676095"/>
            <a:ext cx="1143000" cy="1143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718304" y="2076602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125505" y="3124505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29707" y="2933395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기업 사례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29707" y="3314700"/>
            <a:ext cx="3057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Tractable, Ravin AI 등 선도 기업의 기술 적용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0" y="295259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D2D3"/>
          </a:solidFill>
          <a:ln/>
          <a:effectLst>
            <a:outerShdw blurRad="190500" dist="101600" dir="5400000" algn="bl" rotWithShape="0">
              <a:srgbClr val="00D2D3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86707" y="2667305"/>
            <a:ext cx="1143000" cy="1143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718304" y="3066898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153851" y="4114800"/>
            <a:ext cx="171907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9707" y="3924605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기업 사례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429707" y="4304995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쏘카, 보험개발원 등의 실제 서비스 운영 현황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0" y="3943807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D2D3"/>
          </a:solidFill>
          <a:ln/>
          <a:effectLst>
            <a:outerShdw blurRad="190500" dist="101600" dir="5400000" algn="bl" rotWithShape="0">
              <a:srgbClr val="00D2D3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286707" y="3657600"/>
            <a:ext cx="1143000" cy="1143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4718304" y="4058107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125505" y="5105095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29707" y="4914900"/>
            <a:ext cx="18388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동향 및 전망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5429707" y="529620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기반 모델과 미래 발전 방향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0" y="493410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00D2D3"/>
          </a:solidFill>
          <a:ln/>
          <a:effectLst>
            <a:outerShdw blurRad="190500" dist="101600" dir="5400000" algn="bl" rotWithShape="0">
              <a:srgbClr val="00D2D3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286707" y="4647895"/>
            <a:ext cx="1143000" cy="11430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4718304" y="5048402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0" y="0"/>
            <a:ext cx="3810305" cy="6858000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35" name="Shape 28"/>
          <p:cNvSpPr/>
          <p:nvPr/>
        </p:nvSpPr>
        <p:spPr>
          <a:xfrm>
            <a:off x="381305" y="571500"/>
            <a:ext cx="38405" cy="5715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36" name="Shape 29"/>
          <p:cNvSpPr/>
          <p:nvPr/>
        </p:nvSpPr>
        <p:spPr>
          <a:xfrm>
            <a:off x="381305" y="6210605"/>
            <a:ext cx="228600" cy="75895"/>
          </a:xfrm>
          <a:prstGeom prst="roundRect">
            <a:avLst>
              <a:gd name="adj" fmla="val 602411"/>
            </a:avLst>
          </a:prstGeom>
          <a:solidFill>
            <a:srgbClr val="00D2D3"/>
          </a:solidFill>
          <a:ln/>
        </p:spPr>
      </p:sp>
      <p:sp>
        <p:nvSpPr>
          <p:cNvPr id="37" name="Shape 30"/>
          <p:cNvSpPr/>
          <p:nvPr/>
        </p:nvSpPr>
        <p:spPr>
          <a:xfrm>
            <a:off x="685800" y="6210605"/>
            <a:ext cx="75895" cy="75895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838505" y="6210605"/>
            <a:ext cx="75895" cy="75895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9" name="Shape 32"/>
          <p:cNvSpPr/>
          <p:nvPr/>
        </p:nvSpPr>
        <p:spPr>
          <a:xfrm>
            <a:off x="990295" y="6210605"/>
            <a:ext cx="75895" cy="75895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381305" y="1285646"/>
            <a:ext cx="25630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</a:t>
            </a:r>
            <a:endParaRPr lang="en-US" sz="3600" dirty="0"/>
          </a:p>
        </p:txBody>
      </p:sp>
      <p:sp>
        <p:nvSpPr>
          <p:cNvPr id="41" name="Text 34"/>
          <p:cNvSpPr txBox="1"/>
          <p:nvPr/>
        </p:nvSpPr>
        <p:spPr>
          <a:xfrm>
            <a:off x="381305" y="1857146"/>
            <a:ext cx="28392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3600" dirty="0"/>
          </a:p>
        </p:txBody>
      </p:sp>
      <p:sp>
        <p:nvSpPr>
          <p:cNvPr id="42" name="Text 35"/>
          <p:cNvSpPr txBox="1"/>
          <p:nvPr/>
        </p:nvSpPr>
        <p:spPr>
          <a:xfrm>
            <a:off x="381305" y="2553005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381305" y="594360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Vehicle Damage Detection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4780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 및 배경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381305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AI for Vehicle Damage Detection?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952805"/>
            <a:ext cx="12191695" cy="58293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33195"/>
            <a:ext cx="3495751" cy="50676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33195"/>
            <a:ext cx="3495751" cy="3840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" y="1657807"/>
            <a:ext cx="666598" cy="666598"/>
          </a:xfrm>
          <a:prstGeom prst="ellipse">
            <a:avLst/>
          </a:prstGeom>
          <a:solidFill>
            <a:srgbClr val="FF6B6B">
              <a:alpha val="10000"/>
            </a:srgbClr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7046" y="1857146"/>
            <a:ext cx="267005" cy="2670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57707" y="2553005"/>
            <a:ext cx="118597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필요성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3019349"/>
            <a:ext cx="280355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수백만 건의 차량 파손 사고 발생 및 보험 청구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3562502"/>
            <a:ext cx="27175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 검수의 높은 인건비와 처리 지연 발생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3890772"/>
            <a:ext cx="271759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검수자별 판단 기준 차이로 인한 일관성 부족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4219956"/>
            <a:ext cx="27742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비대면 서비스(카셰어링 등) 확산에 따른 자동화 필수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9801" y="1333195"/>
            <a:ext cx="3495751" cy="50676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9801" y="1333195"/>
            <a:ext cx="3495751" cy="38405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9" name="Shape 16"/>
          <p:cNvSpPr/>
          <p:nvPr/>
        </p:nvSpPr>
        <p:spPr>
          <a:xfrm>
            <a:off x="4635094" y="1657807"/>
            <a:ext cx="666598" cy="666598"/>
          </a:xfrm>
          <a:prstGeom prst="ellipse">
            <a:avLst/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2429" y="1857146"/>
            <a:ext cx="333756" cy="26700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635094" y="2553005"/>
            <a:ext cx="12527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도입 효과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826203" y="3019349"/>
            <a:ext cx="26983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대비 최대 90% 처리 시간 단축 (실시간 분석)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826203" y="3562502"/>
            <a:ext cx="278434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정밀 분석으로 정확도 95% 이상 달성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826203" y="4105656"/>
            <a:ext cx="21936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 절감 및 업무 효율성 증대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826203" y="4433926"/>
            <a:ext cx="22128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24/365 중단 없는 서비스 제공 가능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28102" y="1333195"/>
            <a:ext cx="3495751" cy="50676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28102" y="1333195"/>
            <a:ext cx="3495751" cy="38405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28" name="Shape 24"/>
          <p:cNvSpPr/>
          <p:nvPr/>
        </p:nvSpPr>
        <p:spPr>
          <a:xfrm>
            <a:off x="8413394" y="1657807"/>
            <a:ext cx="666598" cy="666598"/>
          </a:xfrm>
          <a:prstGeom prst="ellipse">
            <a:avLst/>
          </a:prstGeom>
          <a:solidFill>
            <a:srgbClr val="5F27CD">
              <a:alpha val="10000"/>
            </a:srgbClr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l="-685" r="-685"/>
          <a:stretch/>
        </p:blipFill>
        <p:spPr>
          <a:xfrm>
            <a:off x="8594446" y="1857146"/>
            <a:ext cx="304495" cy="2670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413394" y="2553005"/>
            <a:ext cx="14337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적용 분야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8604504" y="3019349"/>
            <a:ext cx="26700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보험사: 자동 손해 사정 및 수리비 견적 산출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8604504" y="3347618"/>
            <a:ext cx="28126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렌터카/카셰어링: 대여 전후 차량 상태 자동 검수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604504" y="3890772"/>
            <a:ext cx="28410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거래: 매물 상태 진단 및 가격 산정 근거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8604504" y="4219956"/>
            <a:ext cx="284104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플릿 관리: 법인 차량 유지보수 및 사고 이력 관리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딥러닝 모델 아키텍처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86062" y="333756"/>
            <a:ext cx="2539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Deep Learning Models Comparison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660105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143000"/>
            <a:ext cx="5410505" cy="290504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8538" y="1380744"/>
            <a:ext cx="990295" cy="247802"/>
          </a:xfrm>
          <a:prstGeom prst="roundRect">
            <a:avLst>
              <a:gd name="adj" fmla="val 283849"/>
            </a:avLst>
          </a:prstGeom>
          <a:solidFill>
            <a:srgbClr val="F8F9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53635" y="1419149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+ 종류 탐지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9244" y="1999793"/>
            <a:ext cx="4934102" cy="19202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9244" y="140451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952805" y="1538021"/>
            <a:ext cx="171907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19149" y="1380744"/>
            <a:ext cx="17245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 Detection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19149" y="1686154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손상 부위 박스(Box) 검출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" y="2171700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v3/v4/v11 실시간 처리에 최적화된 높은 FPS. 단일 단계(One-stage) 검출로 매우 빠름 속도 최우수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" y="2743200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2단계(Two-stage) 방식으로 높은 정확도.미세한 손상 탐지에 유리하나 속도는 느림 정확도 우수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" y="3314700"/>
            <a:ext cx="9454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952244" y="3305556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 효율성과 정확도의 균형 잡힌 모델.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952244" y="3492094"/>
            <a:ext cx="2005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및 엣지 디바이스 적용 용이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10605" y="1143000"/>
            <a:ext cx="5410505" cy="290504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0496398" y="1380744"/>
            <a:ext cx="886054" cy="247802"/>
          </a:xfrm>
          <a:prstGeom prst="roundRect">
            <a:avLst>
              <a:gd name="adj" fmla="val 283849"/>
            </a:avLst>
          </a:prstGeom>
          <a:solidFill>
            <a:srgbClr val="F8F9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92410" y="1419149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분류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48349" y="1999793"/>
            <a:ext cx="4934102" cy="19202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6448349" y="1404518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6B6B">
              <a:alpha val="10000"/>
            </a:srgbClr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567221" y="1538021"/>
            <a:ext cx="219456" cy="1901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058254" y="1380744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Segmentation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058254" y="1686154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손상 영역 정밀 분할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448349" y="2171700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U-Net 적은 데이터로도 학습 효율 우수.Encoder-Decoder 구조로 정밀한 경계 추출 업계 표준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448349" y="2743200"/>
            <a:ext cx="10314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DeepLab V3+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7591349" y="2734056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크기의 손상(Multi-scale) 인식 강점.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591349" y="2920594"/>
            <a:ext cx="2405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Atrous Convolution으로 넓은 문맥 파악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71500" y="4269334"/>
            <a:ext cx="5410505" cy="290504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858207" y="4507078"/>
            <a:ext cx="886054" cy="247802"/>
          </a:xfrm>
          <a:prstGeom prst="roundRect">
            <a:avLst>
              <a:gd name="adj" fmla="val 283849"/>
            </a:avLst>
          </a:prstGeom>
          <a:solidFill>
            <a:srgbClr val="F8F9FA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4953305" y="454548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객체 분할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809244" y="5126126"/>
            <a:ext cx="4934102" cy="19202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37" name="Shape 33"/>
          <p:cNvSpPr/>
          <p:nvPr/>
        </p:nvSpPr>
        <p:spPr>
          <a:xfrm>
            <a:off x="809244" y="453085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5F27CD">
              <a:alpha val="10000"/>
            </a:srgbClr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746" y="4664354"/>
            <a:ext cx="190195" cy="19019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1419149" y="4507078"/>
            <a:ext cx="2305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Instance Segmentation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19149" y="4811573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손상 객체 구분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809244" y="5298034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Mask R-CNN Object Detection과 Segmentation 동시 수행.개별 스크래치나 덴트를 각각 구분 가능 가장 정밀함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09244" y="5869534"/>
            <a:ext cx="679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사례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1952244" y="5859475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개의 인접한 스크래치를 각각 분리하여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952244" y="6046013"/>
            <a:ext cx="2748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산출 시 개별 부품/작업으로 인식 필요할 때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6210605" y="4269334"/>
            <a:ext cx="5410505" cy="290504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10634472" y="4507078"/>
            <a:ext cx="752551" cy="247802"/>
          </a:xfrm>
          <a:prstGeom prst="roundRect">
            <a:avLst>
              <a:gd name="adj" fmla="val 283849"/>
            </a:avLst>
          </a:prstGeom>
          <a:solidFill>
            <a:srgbClr val="F8F9FA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10729570" y="454548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트렌드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6448349" y="5126126"/>
            <a:ext cx="4934102" cy="19202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49" name="Shape 44"/>
          <p:cNvSpPr/>
          <p:nvPr/>
        </p:nvSpPr>
        <p:spPr>
          <a:xfrm>
            <a:off x="6448349" y="453085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F9F43">
              <a:alpha val="10000"/>
            </a:srgbClr>
          </a:solidFill>
          <a:ln/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81851" y="4664354"/>
            <a:ext cx="190195" cy="190195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7058254" y="4507078"/>
            <a:ext cx="2019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Transformers</a:t>
            </a:r>
            <a:endParaRPr lang="en-US" sz="1500" dirty="0"/>
          </a:p>
        </p:txBody>
      </p:sp>
      <p:sp>
        <p:nvSpPr>
          <p:cNvPr id="52" name="Text 46"/>
          <p:cNvSpPr txBox="1"/>
          <p:nvPr/>
        </p:nvSpPr>
        <p:spPr>
          <a:xfrm>
            <a:off x="7058254" y="4811573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데이터 기반 일반화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6448349" y="5298034"/>
            <a:ext cx="5048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 / DETR 전역적 문맥(Global Context) 이해 탁월.차량 전체 구조와 손상 관계 파악에 유리 높은 잠재력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6448349" y="5869534"/>
            <a:ext cx="8787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SegFormer</a:t>
            </a:r>
            <a:endParaRPr lang="en-US" sz="1100" dirty="0"/>
          </a:p>
        </p:txBody>
      </p:sp>
      <p:sp>
        <p:nvSpPr>
          <p:cNvPr id="55" name="Text 49"/>
          <p:cNvSpPr txBox="1"/>
          <p:nvPr/>
        </p:nvSpPr>
        <p:spPr>
          <a:xfrm>
            <a:off x="7591349" y="5859475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기반의 효율적인 세그멘테이션.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7591349" y="6046013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배경과 조명 변화에 강건함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딥러닝 모델 아키텍처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86062" y="333756"/>
            <a:ext cx="2539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Deep Learning Models Comparison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660105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626079" y="1143000"/>
            <a:ext cx="10939842" cy="6211469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AutoShape 2">
            <a:extLst>
              <a:ext uri="{FF2B5EF4-FFF2-40B4-BE49-F238E27FC236}">
                <a16:creationId xmlns:a16="http://schemas.microsoft.com/office/drawing/2014/main" id="{88A54F66-EDA9-4D81-ABCB-52B15BE59D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F57F72-1467-457D-943F-110A0B0CD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25" y="2613809"/>
            <a:ext cx="8197244" cy="339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63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614385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43000"/>
            <a:ext cx="6648602" cy="5572354"/>
          </a:xfrm>
          <a:prstGeom prst="roundRect">
            <a:avLst>
              <a:gd name="adj" fmla="val 44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542946" y="1371600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U-Net Architecture Overview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26230" y="2556662"/>
            <a:ext cx="761695" cy="1524305"/>
          </a:xfrm>
          <a:prstGeom prst="rect">
            <a:avLst/>
          </a:prstGeom>
          <a:solidFill>
            <a:srgbClr val="00D2D3">
              <a:alpha val="90000"/>
            </a:srgbClr>
          </a:solidFill>
          <a:ln w="25400">
            <a:solidFill>
              <a:srgbClr val="00A8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5043" y="3247034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289247" y="3247034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78120" y="2937967"/>
            <a:ext cx="571500" cy="1143000"/>
          </a:xfrm>
          <a:prstGeom prst="rect">
            <a:avLst/>
          </a:prstGeom>
          <a:solidFill>
            <a:srgbClr val="00D2D3">
              <a:alpha val="90000"/>
            </a:srgbClr>
          </a:solidFill>
          <a:ln w="25400">
            <a:solidFill>
              <a:srgbClr val="00A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3393" y="3438144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 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40730" y="3319272"/>
            <a:ext cx="381305" cy="761695"/>
          </a:xfrm>
          <a:prstGeom prst="rect">
            <a:avLst/>
          </a:prstGeom>
          <a:solidFill>
            <a:srgbClr val="00D2D3">
              <a:alpha val="90000"/>
            </a:srgbClr>
          </a:solidFill>
          <a:ln w="25400">
            <a:solidFill>
              <a:srgbClr val="00A8A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69991" y="3628339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 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12230" y="3509467"/>
            <a:ext cx="286207" cy="571500"/>
          </a:xfrm>
          <a:prstGeom prst="rect">
            <a:avLst/>
          </a:prstGeom>
          <a:solidFill>
            <a:srgbClr val="00D2D3">
              <a:alpha val="90000"/>
            </a:srgbClr>
          </a:solidFill>
          <a:ln w="25400">
            <a:solidFill>
              <a:srgbClr val="00A8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31432" y="3652114"/>
            <a:ext cx="3246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 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88632" y="3699662"/>
            <a:ext cx="571500" cy="381305"/>
          </a:xfrm>
          <a:prstGeom prst="rect">
            <a:avLst/>
          </a:prstGeom>
          <a:solidFill>
            <a:srgbClr val="00D2D3">
              <a:alpha val="90000"/>
            </a:srgbClr>
          </a:solidFill>
          <a:ln w="25400">
            <a:solidFill>
              <a:srgbClr val="00A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9722" y="3818534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4D4D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Bottleneck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50327" y="3509467"/>
            <a:ext cx="286207" cy="571500"/>
          </a:xfrm>
          <a:prstGeom prst="rect">
            <a:avLst/>
          </a:prstGeom>
          <a:solidFill>
            <a:srgbClr val="FF6B6B">
              <a:alpha val="90000"/>
            </a:srgbClr>
          </a:solidFill>
          <a:ln w="25400">
            <a:solidFill>
              <a:srgbClr val="EE525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5075" y="3723437"/>
            <a:ext cx="295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26730" y="3319272"/>
            <a:ext cx="381305" cy="761695"/>
          </a:xfrm>
          <a:prstGeom prst="rect">
            <a:avLst/>
          </a:prstGeom>
          <a:solidFill>
            <a:srgbClr val="FF6B6B">
              <a:alpha val="90000"/>
            </a:srgbClr>
          </a:solidFill>
          <a:ln w="25400">
            <a:solidFill>
              <a:srgbClr val="EE525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9026" y="3628339"/>
            <a:ext cx="295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 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98230" y="2937967"/>
            <a:ext cx="571500" cy="1143000"/>
          </a:xfrm>
          <a:prstGeom prst="rect">
            <a:avLst/>
          </a:prstGeom>
          <a:solidFill>
            <a:srgbClr val="FF6B6B">
              <a:alpha val="90000"/>
            </a:srgbClr>
          </a:solidFill>
          <a:ln w="25400">
            <a:solidFill>
              <a:srgbClr val="EE525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75623" y="3438144"/>
            <a:ext cx="295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 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59925" y="2556662"/>
            <a:ext cx="761695" cy="1524305"/>
          </a:xfrm>
          <a:prstGeom prst="rect">
            <a:avLst/>
          </a:prstGeom>
          <a:solidFill>
            <a:srgbClr val="FF6B6B">
              <a:alpha val="90000"/>
            </a:srgbClr>
          </a:solidFill>
          <a:ln w="25400">
            <a:solidFill>
              <a:srgbClr val="EE525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1365" y="3247034"/>
            <a:ext cx="419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687864" y="3247034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Mask</a:t>
            </a:r>
            <a:endParaRPr lang="en-US" sz="8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925" y="2176272"/>
            <a:ext cx="6191402" cy="361919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1426464" y="634227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00D2D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597457" y="6313932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Encoder (EfficientNet)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962656" y="6342278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FF6B6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134563" y="6313932"/>
            <a:ext cx="1286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Decoder (Upsampling)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24451" y="6389827"/>
            <a:ext cx="114300" cy="19202"/>
          </a:xfrm>
          <a:prstGeom prst="roundRect">
            <a:avLst>
              <a:gd name="adj" fmla="val 4762004"/>
            </a:avLst>
          </a:prstGeom>
          <a:solidFill>
            <a:srgbClr val="A4B0B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696358" y="6313932"/>
            <a:ext cx="1752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Skip Connection (Concatenate)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498080" y="1143000"/>
            <a:ext cx="4123944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498080" y="1143000"/>
            <a:ext cx="38405" cy="1733702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36" name="Shape 33"/>
          <p:cNvSpPr/>
          <p:nvPr/>
        </p:nvSpPr>
        <p:spPr>
          <a:xfrm>
            <a:off x="7726680" y="1333195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5F27CD">
              <a:alpha val="10000"/>
            </a:srgbClr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7793431" y="1410005"/>
            <a:ext cx="171907" cy="152705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8145475" y="1356970"/>
            <a:ext cx="15288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U-Shape 아키텍처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7726680" y="1762049"/>
            <a:ext cx="3710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Contracting Path이미지의 특징(Context)을 포착하는 인코더 역할. 점차 해상도를 줄이며 깊은 특징 추출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7726680" y="2264969"/>
            <a:ext cx="366308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Expanding Path위치 정보(Localization)를 복원하는 디코더 역할. Skip-Connection을 통해 잃어버린 공간 정보 결합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498080" y="3063240"/>
            <a:ext cx="4123944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498080" y="3063240"/>
            <a:ext cx="38405" cy="1733702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43" name="Shape 39"/>
          <p:cNvSpPr/>
          <p:nvPr/>
        </p:nvSpPr>
        <p:spPr>
          <a:xfrm>
            <a:off x="7726680" y="325435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7784287" y="3330245"/>
            <a:ext cx="190195" cy="152705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145475" y="3278124"/>
            <a:ext cx="18626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EfficientNet 백본 활용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7726680" y="3682289"/>
            <a:ext cx="37481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전이 학습ImageNet으로 사전 학습된 EfficientNet을 인코더로 사용하여 학습 속도와 성능 향상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7726680" y="4185209"/>
            <a:ext cx="377738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의료→차량의료 영상에서 검증된 정밀 세그멘테이션 능력을 미세한 차량 파손(스크래치 등) 탐지에 적용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4984394"/>
            <a:ext cx="4123944" cy="1733702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7498080" y="4984394"/>
            <a:ext cx="38405" cy="173370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0" name="Shape 45"/>
          <p:cNvSpPr/>
          <p:nvPr/>
        </p:nvSpPr>
        <p:spPr>
          <a:xfrm>
            <a:off x="7726680" y="5174590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6B6B">
              <a:alpha val="10000"/>
            </a:srgbClr>
          </a:solidFill>
          <a:ln/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02575" y="5250485"/>
            <a:ext cx="152705" cy="152705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145475" y="5198364"/>
            <a:ext cx="1386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 및 활용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7726680" y="5603443"/>
            <a:ext cx="3710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균형Context(무엇인지)와 Localization(어디인지)의 완벽한 조화로 정확한 파손 마스크 생성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7726680" y="6106363"/>
            <a:ext cx="37481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강건함적은 양의 데이터로도 효과적인 학습 가능하며, CRF 등의 후처리와 결합해 경계선 정밀도 극대화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780898" y="228600"/>
            <a:ext cx="26581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U-Net 모델 심층 분석</a:t>
            </a:r>
            <a:endParaRPr lang="en-US" sz="2100" dirty="0"/>
          </a:p>
        </p:txBody>
      </p:sp>
      <p:sp>
        <p:nvSpPr>
          <p:cNvPr id="57" name="Text 51"/>
          <p:cNvSpPr txBox="1"/>
          <p:nvPr/>
        </p:nvSpPr>
        <p:spPr>
          <a:xfrm>
            <a:off x="7901330" y="333756"/>
            <a:ext cx="3824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into U-Net Architecture with EfficientNet Backbone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29242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 분석 및 진화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197950" y="333756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Evolution of Real-Time Object Detection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4286707"/>
            <a:ext cx="38405" cy="26700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4276649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 및 활용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1500" y="4705502"/>
            <a:ext cx="3534156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4705502"/>
            <a:ext cx="38405" cy="17145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5324551"/>
            <a:ext cx="352044" cy="476402"/>
          </a:xfrm>
          <a:prstGeom prst="roundRect">
            <a:avLst>
              <a:gd name="adj" fmla="val 70200"/>
            </a:avLst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871423" y="5447995"/>
            <a:ext cx="200254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95705" y="5243170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 탐지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95705" y="5510174"/>
            <a:ext cx="270296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단계(One-stage) 추론으로 높은 FPS 보장, 실시간 영상 분석 가능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30598" y="4705502"/>
            <a:ext cx="3534156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0598" y="4705502"/>
            <a:ext cx="38405" cy="17145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8" name="Shape 15"/>
          <p:cNvSpPr/>
          <p:nvPr/>
        </p:nvSpPr>
        <p:spPr>
          <a:xfrm>
            <a:off x="4559198" y="5324551"/>
            <a:ext cx="342900" cy="476402"/>
          </a:xfrm>
          <a:prstGeom prst="roundRect">
            <a:avLst>
              <a:gd name="adj" fmla="val 74074"/>
            </a:avLst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2234" y="5447995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46574" y="524317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손상 위치 파악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046574" y="5510174"/>
            <a:ext cx="2607869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스크래치, 덴트, 파손 부품 등 여러 객체를 한 번에 Bounding Box로 검출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089697" y="4705502"/>
            <a:ext cx="3534156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89697" y="4705502"/>
            <a:ext cx="38405" cy="1714500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24" name="Shape 20"/>
          <p:cNvSpPr/>
          <p:nvPr/>
        </p:nvSpPr>
        <p:spPr>
          <a:xfrm>
            <a:off x="8318297" y="5324551"/>
            <a:ext cx="342900" cy="476402"/>
          </a:xfrm>
          <a:prstGeom prst="roundRect">
            <a:avLst>
              <a:gd name="adj" fmla="val 74074"/>
            </a:avLst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74075" y="5447995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11158" y="5243170"/>
            <a:ext cx="1095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Pre-crop 활용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811158" y="5510174"/>
            <a:ext cx="259872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이미지에서 차량/부품 영역만 잘라내어 후속 정밀 분석 모델로 전달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29" name="Shape 24"/>
          <p:cNvSpPr/>
          <p:nvPr/>
        </p:nvSpPr>
        <p:spPr>
          <a:xfrm>
            <a:off x="571500" y="2600554"/>
            <a:ext cx="11048695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5"/>
          <p:cNvSpPr/>
          <p:nvPr/>
        </p:nvSpPr>
        <p:spPr>
          <a:xfrm>
            <a:off x="571500" y="985723"/>
            <a:ext cx="2095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71500" y="2471623"/>
            <a:ext cx="2095805" cy="38405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32" name="Shape 27"/>
          <p:cNvSpPr/>
          <p:nvPr/>
        </p:nvSpPr>
        <p:spPr>
          <a:xfrm>
            <a:off x="1251814" y="1138428"/>
            <a:ext cx="743407" cy="276149"/>
          </a:xfrm>
          <a:prstGeom prst="roundRect">
            <a:avLst>
              <a:gd name="adj" fmla="val 228362"/>
            </a:avLst>
          </a:prstGeom>
          <a:solidFill>
            <a:srgbClr val="0B1E3B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1347826" y="1175918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v3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317650" y="149047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확립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1036015" y="1757477"/>
            <a:ext cx="12646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Darknet-53 백본 도입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071677" y="1943100"/>
            <a:ext cx="11887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스케일 예측으로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1110996" y="2128723"/>
            <a:ext cx="11128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객체 탐지 개선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1408176" y="2771546"/>
            <a:ext cx="428854" cy="209398"/>
          </a:xfrm>
          <a:prstGeom prst="roundRect">
            <a:avLst>
              <a:gd name="adj" fmla="val 79396"/>
            </a:avLst>
          </a:prstGeom>
          <a:solidFill>
            <a:srgbClr val="F1F2F6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1484071" y="2790749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2018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3556102" y="2734056"/>
            <a:ext cx="2095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556102" y="2734056"/>
            <a:ext cx="2095805" cy="38405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42" name="Shape 37"/>
          <p:cNvSpPr/>
          <p:nvPr/>
        </p:nvSpPr>
        <p:spPr>
          <a:xfrm>
            <a:off x="4236415" y="2924251"/>
            <a:ext cx="743407" cy="276149"/>
          </a:xfrm>
          <a:prstGeom prst="roundRect">
            <a:avLst>
              <a:gd name="adj" fmla="val 228362"/>
            </a:avLst>
          </a:prstGeom>
          <a:solidFill>
            <a:srgbClr val="0B1E3B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4331513" y="2962656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v4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4231843" y="3276295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최적화</a:t>
            </a:r>
            <a:endParaRPr lang="en-US" sz="1200" dirty="0"/>
          </a:p>
        </p:txBody>
      </p:sp>
      <p:sp>
        <p:nvSpPr>
          <p:cNvPr id="45" name="Text 40"/>
          <p:cNvSpPr txBox="1"/>
          <p:nvPr/>
        </p:nvSpPr>
        <p:spPr>
          <a:xfrm>
            <a:off x="3976726" y="3543300"/>
            <a:ext cx="13505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Mosaic Augmentation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4125773" y="3728923"/>
            <a:ext cx="10552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CSPNet 백본 적용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4073652" y="3914546"/>
            <a:ext cx="11603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AP/FPS 균형 최적화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4392778" y="2066544"/>
            <a:ext cx="428854" cy="209398"/>
          </a:xfrm>
          <a:prstGeom prst="roundRect">
            <a:avLst>
              <a:gd name="adj" fmla="val 79396"/>
            </a:avLst>
          </a:prstGeom>
          <a:solidFill>
            <a:srgbClr val="F1F2F6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4468673" y="2085746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540703" y="985723"/>
            <a:ext cx="2095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6540703" y="2471623"/>
            <a:ext cx="2095805" cy="38405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52" name="Shape 47"/>
          <p:cNvSpPr/>
          <p:nvPr/>
        </p:nvSpPr>
        <p:spPr>
          <a:xfrm>
            <a:off x="7080199" y="1138428"/>
            <a:ext cx="1019556" cy="276149"/>
          </a:xfrm>
          <a:prstGeom prst="roundRect">
            <a:avLst>
              <a:gd name="adj" fmla="val 228362"/>
            </a:avLst>
          </a:prstGeom>
          <a:solidFill>
            <a:srgbClr val="0B1E3B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7175297" y="1175918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v5 / v8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7237476" y="1490472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7036308" y="1757477"/>
            <a:ext cx="11978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구현 용이성</a:t>
            </a:r>
            <a:endParaRPr lang="en-US" sz="900" dirty="0"/>
          </a:p>
        </p:txBody>
      </p:sp>
      <p:sp>
        <p:nvSpPr>
          <p:cNvPr id="56" name="Text 51"/>
          <p:cNvSpPr txBox="1"/>
          <p:nvPr/>
        </p:nvSpPr>
        <p:spPr>
          <a:xfrm>
            <a:off x="7123176" y="1943100"/>
            <a:ext cx="10268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Anchor-free (v8)</a:t>
            </a:r>
            <a:endParaRPr lang="en-US" sz="900" dirty="0"/>
          </a:p>
        </p:txBody>
      </p:sp>
      <p:sp>
        <p:nvSpPr>
          <p:cNvPr id="57" name="Text 52"/>
          <p:cNvSpPr txBox="1"/>
          <p:nvPr/>
        </p:nvSpPr>
        <p:spPr>
          <a:xfrm>
            <a:off x="7050938" y="2128723"/>
            <a:ext cx="11695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Segmentation 지원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7221017" y="2771546"/>
            <a:ext cx="743407" cy="209398"/>
          </a:xfrm>
          <a:prstGeom prst="roundRect">
            <a:avLst>
              <a:gd name="adj" fmla="val 79396"/>
            </a:avLst>
          </a:prstGeom>
          <a:solidFill>
            <a:srgbClr val="F1F2F6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7296912" y="2790749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2020-2023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9525305" y="2734056"/>
            <a:ext cx="2095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9525305" y="2734056"/>
            <a:ext cx="2095805" cy="3840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2" name="Shape 57"/>
          <p:cNvSpPr/>
          <p:nvPr/>
        </p:nvSpPr>
        <p:spPr>
          <a:xfrm>
            <a:off x="10166299" y="2924251"/>
            <a:ext cx="819302" cy="276149"/>
          </a:xfrm>
          <a:prstGeom prst="roundRect">
            <a:avLst>
              <a:gd name="adj" fmla="val 228362"/>
            </a:avLst>
          </a:prstGeom>
          <a:solidFill>
            <a:srgbClr val="FF6B6B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10261397" y="2962656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v11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10214762" y="3276295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SOTA</a:t>
            </a:r>
            <a:endParaRPr lang="en-US" sz="1200" dirty="0"/>
          </a:p>
        </p:txBody>
      </p:sp>
      <p:sp>
        <p:nvSpPr>
          <p:cNvPr id="65" name="Text 60"/>
          <p:cNvSpPr txBox="1"/>
          <p:nvPr/>
        </p:nvSpPr>
        <p:spPr>
          <a:xfrm>
            <a:off x="9967874" y="3543300"/>
            <a:ext cx="13030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효율성 극대화</a:t>
            </a:r>
            <a:endParaRPr lang="en-US" sz="900" dirty="0"/>
          </a:p>
        </p:txBody>
      </p:sp>
      <p:sp>
        <p:nvSpPr>
          <p:cNvPr id="66" name="Text 61"/>
          <p:cNvSpPr txBox="1"/>
          <p:nvPr/>
        </p:nvSpPr>
        <p:spPr>
          <a:xfrm>
            <a:off x="10082174" y="3728923"/>
            <a:ext cx="10744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 수준의 정확도</a:t>
            </a:r>
            <a:endParaRPr lang="en-US" sz="900" dirty="0"/>
          </a:p>
        </p:txBody>
      </p:sp>
      <p:sp>
        <p:nvSpPr>
          <p:cNvPr id="67" name="Text 62"/>
          <p:cNvSpPr txBox="1"/>
          <p:nvPr/>
        </p:nvSpPr>
        <p:spPr>
          <a:xfrm>
            <a:off x="10169042" y="3914546"/>
            <a:ext cx="9025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AI 최적화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10327234" y="2066544"/>
            <a:ext cx="495605" cy="209398"/>
          </a:xfrm>
          <a:prstGeom prst="roundRect">
            <a:avLst>
              <a:gd name="adj" fmla="val 79396"/>
            </a:avLst>
          </a:prstGeom>
          <a:solidFill>
            <a:srgbClr val="F1F2F6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10404043" y="2085746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2024~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1505102" y="2257654"/>
            <a:ext cx="228600" cy="228600"/>
          </a:xfrm>
          <a:prstGeom prst="ellipse">
            <a:avLst/>
          </a:prstGeom>
          <a:solidFill>
            <a:srgbClr val="00D2D3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00D2D3">
                <a:alpha val="20000"/>
              </a:srgbClr>
            </a:outerShdw>
          </a:effectLst>
        </p:spPr>
      </p:sp>
      <p:sp>
        <p:nvSpPr>
          <p:cNvPr id="71" name="Shape 66"/>
          <p:cNvSpPr/>
          <p:nvPr/>
        </p:nvSpPr>
        <p:spPr>
          <a:xfrm>
            <a:off x="4489704" y="2257654"/>
            <a:ext cx="228600" cy="228600"/>
          </a:xfrm>
          <a:prstGeom prst="ellipse">
            <a:avLst/>
          </a:prstGeom>
          <a:solidFill>
            <a:srgbClr val="00D2D3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00D2D3">
                <a:alpha val="20000"/>
              </a:srgbClr>
            </a:outerShdw>
          </a:effectLst>
        </p:spPr>
      </p:sp>
      <p:sp>
        <p:nvSpPr>
          <p:cNvPr id="72" name="Shape 67"/>
          <p:cNvSpPr/>
          <p:nvPr/>
        </p:nvSpPr>
        <p:spPr>
          <a:xfrm>
            <a:off x="7474306" y="2257654"/>
            <a:ext cx="228600" cy="228600"/>
          </a:xfrm>
          <a:prstGeom prst="ellipse">
            <a:avLst/>
          </a:prstGeom>
          <a:solidFill>
            <a:srgbClr val="00D2D3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00D2D3">
                <a:alpha val="20000"/>
              </a:srgbClr>
            </a:outerShdw>
          </a:effectLst>
        </p:spPr>
      </p:sp>
      <p:sp>
        <p:nvSpPr>
          <p:cNvPr id="73" name="Shape 68"/>
          <p:cNvSpPr/>
          <p:nvPr/>
        </p:nvSpPr>
        <p:spPr>
          <a:xfrm>
            <a:off x="10457993" y="2257654"/>
            <a:ext cx="228600" cy="228600"/>
          </a:xfrm>
          <a:prstGeom prst="ellipse">
            <a:avLst/>
          </a:prstGeom>
          <a:solidFill>
            <a:srgbClr val="FF6B6B"/>
          </a:solidFill>
          <a:ln w="508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FF6B6B">
                <a:alpha val="20000"/>
              </a:srgbClr>
            </a:outerShdw>
          </a:effectLst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2076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방법론 비교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38590" y="333756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Methodologies &amp; Data Augmentation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38098"/>
            <a:ext cx="6877202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238098"/>
            <a:ext cx="1904695" cy="1524305"/>
          </a:xfrm>
          <a:prstGeom prst="rect">
            <a:avLst/>
          </a:prstGeom>
          <a:solidFill>
            <a:srgbClr val="2D343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333195" y="1594714"/>
            <a:ext cx="381305" cy="3044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49731" y="1965960"/>
            <a:ext cx="1081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53058" y="2171700"/>
            <a:ext cx="872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62402" y="1604772"/>
            <a:ext cx="44128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Bounding Box나 Segmentation Mask가 완벽히 라벨링된 정답 데이터를 사용하여 학습하는 전통적인 방식입니다.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62402" y="2147926"/>
            <a:ext cx="1028700" cy="247802"/>
          </a:xfrm>
          <a:prstGeom prst="roundRect">
            <a:avLst>
              <a:gd name="adj" fmla="val 56770"/>
            </a:avLst>
          </a:prstGeom>
          <a:solidFill>
            <a:srgbClr val="E6FF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857500" y="2186330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4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 높은 정확도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65169" y="2147926"/>
            <a:ext cx="1276502" cy="247802"/>
          </a:xfrm>
          <a:prstGeom prst="roundRect">
            <a:avLst>
              <a:gd name="adj" fmla="val 56770"/>
            </a:avLst>
          </a:prstGeom>
          <a:solidFill>
            <a:srgbClr val="FFF5F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960266" y="2186330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 라벨링 비용 과다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10251" y="2147926"/>
            <a:ext cx="1266444" cy="247802"/>
          </a:xfrm>
          <a:prstGeom prst="roundRect">
            <a:avLst>
              <a:gd name="adj" fmla="val 56770"/>
            </a:avLst>
          </a:prstGeom>
          <a:solidFill>
            <a:srgbClr val="EDF2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05349" y="2186330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Mask R-CNN, U-Net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1500" y="2952598"/>
            <a:ext cx="6877202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1500" y="2952598"/>
            <a:ext cx="1904695" cy="1524305"/>
          </a:xfrm>
          <a:prstGeom prst="rect">
            <a:avLst/>
          </a:prstGeom>
          <a:solidFill>
            <a:srgbClr val="00D2D3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1333195" y="3309214"/>
            <a:ext cx="381305" cy="3044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55878" y="3680460"/>
            <a:ext cx="1472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Self-Supervised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304849" y="38862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(SSL)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2762402" y="3319272"/>
            <a:ext cx="417515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라벨이 없는 대규모 이미지 데이터에서 스스로 특징을 학습한 후(Pre-training), 소량의 라벨 데이터로 튜닝합니다.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762402" y="3862426"/>
            <a:ext cx="1133856" cy="247802"/>
          </a:xfrm>
          <a:prstGeom prst="roundRect">
            <a:avLst>
              <a:gd name="adj" fmla="val 56770"/>
            </a:avLst>
          </a:prstGeom>
          <a:solidFill>
            <a:srgbClr val="E6FFF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2857500" y="390083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4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 데이터 효율성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970325" y="3862426"/>
            <a:ext cx="1380744" cy="247802"/>
          </a:xfrm>
          <a:prstGeom prst="roundRect">
            <a:avLst>
              <a:gd name="adj" fmla="val 56770"/>
            </a:avLst>
          </a:prstGeom>
          <a:solidFill>
            <a:srgbClr val="FFF5F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065422" y="3900830"/>
            <a:ext cx="1276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 사전학습 시간 소요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420563" y="3862426"/>
            <a:ext cx="790956" cy="247802"/>
          </a:xfrm>
          <a:prstGeom prst="roundRect">
            <a:avLst>
              <a:gd name="adj" fmla="val 56770"/>
            </a:avLst>
          </a:prstGeom>
          <a:solidFill>
            <a:srgbClr val="EDF2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515661" y="390083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DINO, MAE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571500" y="4667098"/>
            <a:ext cx="6877202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71500" y="4667098"/>
            <a:ext cx="1904695" cy="1524305"/>
          </a:xfrm>
          <a:prstGeom prst="rect">
            <a:avLst/>
          </a:prstGeom>
          <a:solidFill>
            <a:srgbClr val="5F27CD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1333195" y="5023714"/>
            <a:ext cx="381305" cy="30449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05586" y="5394960"/>
            <a:ext cx="1567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Semi-Supervised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1153058" y="5600700"/>
            <a:ext cx="872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2762402" y="5033772"/>
            <a:ext cx="438454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저렴한 BBox 라벨 데이터 대량과 정밀한 Segmentation 라벨 소량을 혼합하여 학습 효율을 극대화합니다.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2762402" y="5576926"/>
            <a:ext cx="1171346" cy="247802"/>
          </a:xfrm>
          <a:prstGeom prst="roundRect">
            <a:avLst>
              <a:gd name="adj" fmla="val 56770"/>
            </a:avLst>
          </a:prstGeom>
          <a:solidFill>
            <a:srgbClr val="E6FFFA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2857500" y="5615330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4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 비용 절감 효과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002329" y="5576926"/>
            <a:ext cx="1095451" cy="247802"/>
          </a:xfrm>
          <a:prstGeom prst="roundRect">
            <a:avLst>
              <a:gd name="adj" fmla="val 56770"/>
            </a:avLst>
          </a:prstGeom>
          <a:solidFill>
            <a:srgbClr val="EDF2F7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4097426" y="5615330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Pseudo-labeling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5169103" y="5576926"/>
            <a:ext cx="1133856" cy="247802"/>
          </a:xfrm>
          <a:prstGeom prst="roundRect">
            <a:avLst>
              <a:gd name="adj" fmla="val 56770"/>
            </a:avLst>
          </a:prstGeom>
          <a:solidFill>
            <a:srgbClr val="EDF2F7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5264201" y="561533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Consistency Reg.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7727594" y="1238098"/>
            <a:ext cx="3895344" cy="5181905"/>
          </a:xfrm>
          <a:prstGeom prst="roundRect">
            <a:avLst>
              <a:gd name="adj" fmla="val 68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7956194" y="1866290"/>
            <a:ext cx="3438144" cy="19202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rcRect l="-1282" r="-1282"/>
          <a:stretch/>
        </p:blipFill>
        <p:spPr>
          <a:xfrm>
            <a:off x="7956194" y="1514246"/>
            <a:ext cx="219456" cy="190195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8289950" y="1466698"/>
            <a:ext cx="19623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Augmentation</a:t>
            </a:r>
            <a:endParaRPr lang="en-US" sz="1500" dirty="0"/>
          </a:p>
        </p:txBody>
      </p:sp>
      <p:sp>
        <p:nvSpPr>
          <p:cNvPr id="48" name="Shape 42"/>
          <p:cNvSpPr/>
          <p:nvPr/>
        </p:nvSpPr>
        <p:spPr>
          <a:xfrm>
            <a:off x="7956194" y="2076602"/>
            <a:ext cx="1647749" cy="1410005"/>
          </a:xfrm>
          <a:prstGeom prst="roundRect">
            <a:avLst>
              <a:gd name="adj" fmla="val 3505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63026" y="2420417"/>
            <a:ext cx="228600" cy="2286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8128102" y="2725826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Brightness/Contrast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8249717" y="2963570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조명/날씨 대응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9750247" y="2076602"/>
            <a:ext cx="1647749" cy="1410005"/>
          </a:xfrm>
          <a:prstGeom prst="roundRect">
            <a:avLst>
              <a:gd name="adj" fmla="val 3505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457078" y="2320747"/>
            <a:ext cx="228600" cy="22860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0233965" y="2625242"/>
            <a:ext cx="7763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Geometric Transform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10138867" y="3064154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회전, 스케일, 왜곡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7956194" y="3631997"/>
            <a:ext cx="1647749" cy="1209751"/>
          </a:xfrm>
          <a:prstGeom prst="roundRect">
            <a:avLst>
              <a:gd name="adj" fmla="val 476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663026" y="3876142"/>
            <a:ext cx="228600" cy="228600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8554212" y="4181551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Mosaic</a:t>
            </a:r>
            <a:endParaRPr lang="en-US" sz="1000" dirty="0"/>
          </a:p>
        </p:txBody>
      </p:sp>
      <p:sp>
        <p:nvSpPr>
          <p:cNvPr id="59" name="Text 50"/>
          <p:cNvSpPr txBox="1"/>
          <p:nvPr/>
        </p:nvSpPr>
        <p:spPr>
          <a:xfrm>
            <a:off x="8171993" y="4419295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이미지를 하나로 합성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9750247" y="3631997"/>
            <a:ext cx="1647749" cy="1209751"/>
          </a:xfrm>
          <a:prstGeom prst="roundRect">
            <a:avLst>
              <a:gd name="adj" fmla="val 476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457078" y="3876142"/>
            <a:ext cx="228600" cy="228600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10080346" y="4181551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CutMix / MixUp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10043770" y="4419295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이미지/라벨 혼합 학습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7956194" y="4988052"/>
            <a:ext cx="1647749" cy="1209751"/>
          </a:xfrm>
          <a:prstGeom prst="roundRect">
            <a:avLst>
              <a:gd name="adj" fmla="val 476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8676742" y="5232197"/>
            <a:ext cx="200254" cy="228600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8291779" y="5537606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Noise Injection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8134502" y="577535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화질 저하 및 노이즈 강건성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9750247" y="4988052"/>
            <a:ext cx="1647749" cy="1209751"/>
          </a:xfrm>
          <a:prstGeom prst="roundRect">
            <a:avLst>
              <a:gd name="adj" fmla="val 4761"/>
            </a:avLst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12"/>
          <a:srcRect l="-7143" r="-7143"/>
          <a:stretch/>
        </p:blipFill>
        <p:spPr>
          <a:xfrm>
            <a:off x="10457078" y="5232197"/>
            <a:ext cx="228600" cy="228600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10209276" y="5537606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Copy-Paste</a:t>
            </a:r>
            <a:endParaRPr lang="en-US" sz="1000" dirty="0"/>
          </a:p>
        </p:txBody>
      </p:sp>
      <p:sp>
        <p:nvSpPr>
          <p:cNvPr id="71" name="Text 59"/>
          <p:cNvSpPr txBox="1"/>
          <p:nvPr/>
        </p:nvSpPr>
        <p:spPr>
          <a:xfrm>
            <a:off x="9997135" y="5775350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파손 객체 복사 붙여넣기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1828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파손 유형 분류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277502" y="333756"/>
            <a:ext cx="2443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Classification of Vehicle Damage Types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38098"/>
            <a:ext cx="3495751" cy="51819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238098"/>
            <a:ext cx="3495751" cy="761695"/>
          </a:xfrm>
          <a:prstGeom prst="rect">
            <a:avLst/>
          </a:prstGeom>
          <a:solidFill>
            <a:srgbClr val="0984E3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1971446"/>
            <a:ext cx="3495751" cy="28346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1376172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9828" y="1509674"/>
            <a:ext cx="237744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10005" y="1462126"/>
            <a:ext cx="1485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Metal Damage</a:t>
            </a:r>
            <a:endParaRPr lang="en-US" sz="15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819302" y="2314346"/>
            <a:ext cx="190195" cy="15270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229307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Scratch (스크래치)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486254"/>
            <a:ext cx="27861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도장이 긁힌 손상. 깊이에 따라 광택/도색 필요 여부 결정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8505" y="3144622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059582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Dent (찌그러짐)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3316529"/>
            <a:ext cx="27386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충격으로 금속 패널이 함몰된 상태. 도장 손상 없이 형태만 변형되기도 함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8505" y="3975811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3889858"/>
            <a:ext cx="1219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Tear (찢김/파열)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4146804"/>
            <a:ext cx="26627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금속판이 찢어지거나 구멍이 뚫린 심각한 손상. 주로 범퍼나 펜더에서 발생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71500" y="5086807"/>
            <a:ext cx="3495751" cy="1333195"/>
          </a:xfrm>
          <a:prstGeom prst="rect">
            <a:avLst/>
          </a:prstGeom>
          <a:solidFill>
            <a:srgbClr val="DFE6E9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>
            <a:alphaModFix amt="90000"/>
          </a:blip>
          <a:srcRect t="35849" b="35849"/>
          <a:stretch/>
        </p:blipFill>
        <p:spPr>
          <a:xfrm>
            <a:off x="571500" y="5086807"/>
            <a:ext cx="3495751" cy="1333195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71500" y="6096305"/>
            <a:ext cx="3495751" cy="32369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24205" y="6172200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Metal Body Analysis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349801" y="1238098"/>
            <a:ext cx="3495751" cy="51819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349801" y="1238098"/>
            <a:ext cx="3495751" cy="761695"/>
          </a:xfrm>
          <a:prstGeom prst="rect">
            <a:avLst/>
          </a:prstGeom>
          <a:solidFill>
            <a:srgbClr val="00B894">
              <a:alpha val="1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4349801" y="1971446"/>
            <a:ext cx="3495751" cy="2834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0" name="Shape 23"/>
          <p:cNvSpPr/>
          <p:nvPr/>
        </p:nvSpPr>
        <p:spPr>
          <a:xfrm>
            <a:off x="4578401" y="1376172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11903" y="1509674"/>
            <a:ext cx="190195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188306" y="1462126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Glass Damage</a:t>
            </a:r>
            <a:endParaRPr lang="en-US" sz="15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4625950" y="2314346"/>
            <a:ext cx="133502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921301" y="2229307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Crack (금)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4921301" y="2486254"/>
            <a:ext cx="27386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유리 표면에 선형으로 발생한 균열. 방치 시 확산 위험 높음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16806" y="3144622"/>
            <a:ext cx="152705" cy="152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921301" y="3059582"/>
            <a:ext cx="1381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Chip (깨짐/스톤칩)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4921301" y="3316529"/>
            <a:ext cx="27386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 등에 맞아 표면 일부가 떨어져 나간 점 형태의 손상</a:t>
            </a:r>
            <a:endParaRPr lang="en-US" sz="10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16806" y="3975811"/>
            <a:ext cx="152705" cy="1527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921301" y="3889858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Spider-web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4921301" y="4146804"/>
            <a:ext cx="2748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중심점에서 여러 갈래로 뻗어나가는 거미줄 형태의 복합 균열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4349801" y="5086807"/>
            <a:ext cx="3495751" cy="1333195"/>
          </a:xfrm>
          <a:prstGeom prst="rect">
            <a:avLst/>
          </a:prstGeom>
          <a:solidFill>
            <a:srgbClr val="DFE6E9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t="30931" b="30931"/>
          <a:stretch/>
        </p:blipFill>
        <p:spPr>
          <a:xfrm>
            <a:off x="4349801" y="5086807"/>
            <a:ext cx="3495751" cy="1333195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349801" y="6096305"/>
            <a:ext cx="3495751" cy="32369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4502506" y="6172200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Windshield Analysis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8128102" y="1238098"/>
            <a:ext cx="3495751" cy="5181905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8128102" y="1238098"/>
            <a:ext cx="3495751" cy="761695"/>
          </a:xfrm>
          <a:prstGeom prst="rect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48" name="Shape 36"/>
          <p:cNvSpPr/>
          <p:nvPr/>
        </p:nvSpPr>
        <p:spPr>
          <a:xfrm>
            <a:off x="8128102" y="1971446"/>
            <a:ext cx="3495751" cy="2834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9" name="Shape 37"/>
          <p:cNvSpPr/>
          <p:nvPr/>
        </p:nvSpPr>
        <p:spPr>
          <a:xfrm>
            <a:off x="8356702" y="1376172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66430" y="1509674"/>
            <a:ext cx="237744" cy="19019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8966606" y="1462126"/>
            <a:ext cx="14676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Miscellaneous</a:t>
            </a:r>
            <a:endParaRPr lang="en-US" sz="15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95106" y="2314346"/>
            <a:ext cx="152705" cy="15270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8699602" y="2229307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Spacing / Gap (이격)</a:t>
            </a:r>
            <a:endParaRPr lang="en-US" sz="1200" dirty="0"/>
          </a:p>
        </p:txBody>
      </p:sp>
      <p:sp>
        <p:nvSpPr>
          <p:cNvPr id="54" name="Text 40"/>
          <p:cNvSpPr txBox="1"/>
          <p:nvPr/>
        </p:nvSpPr>
        <p:spPr>
          <a:xfrm>
            <a:off x="8699602" y="2486254"/>
            <a:ext cx="27011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패널과 패널 사이의 틈이 정상 범위를 벗어나 벌어진 상태</a:t>
            </a:r>
            <a:endParaRPr lang="en-US" sz="1000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95106" y="3144622"/>
            <a:ext cx="152705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99602" y="3059582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Dislocation (틀어짐)</a:t>
            </a:r>
            <a:endParaRPr lang="en-US" sz="1200" dirty="0"/>
          </a:p>
        </p:txBody>
      </p:sp>
      <p:sp>
        <p:nvSpPr>
          <p:cNvPr id="57" name="Text 42"/>
          <p:cNvSpPr txBox="1"/>
          <p:nvPr/>
        </p:nvSpPr>
        <p:spPr>
          <a:xfrm>
            <a:off x="8699602" y="3316529"/>
            <a:ext cx="2748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부품이 정위치에서 벗어나거나 결합이 어긋난 상태</a:t>
            </a:r>
            <a:endParaRPr lang="en-US" sz="1000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95106" y="3975811"/>
            <a:ext cx="152705" cy="152705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699602" y="3889858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Parts</a:t>
            </a:r>
            <a:endParaRPr lang="en-US" sz="1200" dirty="0"/>
          </a:p>
        </p:txBody>
      </p:sp>
      <p:sp>
        <p:nvSpPr>
          <p:cNvPr id="60" name="Text 44"/>
          <p:cNvSpPr txBox="1"/>
          <p:nvPr/>
        </p:nvSpPr>
        <p:spPr>
          <a:xfrm>
            <a:off x="8699602" y="4146804"/>
            <a:ext cx="2701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사이드미러 커버, 몰딩 등 부착물이 유실된 상태</a:t>
            </a:r>
            <a:endParaRPr lang="en-US" sz="1000" dirty="0"/>
          </a:p>
        </p:txBody>
      </p:sp>
      <p:sp>
        <p:nvSpPr>
          <p:cNvPr id="61" name="Shape 45"/>
          <p:cNvSpPr/>
          <p:nvPr/>
        </p:nvSpPr>
        <p:spPr>
          <a:xfrm>
            <a:off x="8128102" y="5086807"/>
            <a:ext cx="3495751" cy="1333195"/>
          </a:xfrm>
          <a:prstGeom prst="rect">
            <a:avLst/>
          </a:prstGeom>
          <a:solidFill>
            <a:srgbClr val="DFE6E9"/>
          </a:solidFill>
          <a:ln/>
        </p:spPr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t="30931" b="30931"/>
          <a:stretch/>
        </p:blipFill>
        <p:spPr>
          <a:xfrm>
            <a:off x="8128102" y="5086807"/>
            <a:ext cx="3495751" cy="1333195"/>
          </a:xfrm>
          <a:prstGeom prst="rect">
            <a:avLst/>
          </a:prstGeom>
        </p:spPr>
      </p:pic>
      <p:sp>
        <p:nvSpPr>
          <p:cNvPr id="63" name="Shape 46"/>
          <p:cNvSpPr/>
          <p:nvPr/>
        </p:nvSpPr>
        <p:spPr>
          <a:xfrm>
            <a:off x="8128102" y="6096305"/>
            <a:ext cx="3495751" cy="32369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4" name="Text 47"/>
          <p:cNvSpPr txBox="1"/>
          <p:nvPr/>
        </p:nvSpPr>
        <p:spPr>
          <a:xfrm>
            <a:off x="8280806" y="6172200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Structural Analysis</a:t>
            </a:r>
            <a:endParaRPr lang="en-US" sz="900" dirty="0"/>
          </a:p>
        </p:txBody>
      </p:sp>
      <p:sp>
        <p:nvSpPr>
          <p:cNvPr id="65" name="Shape 48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2076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기업 사례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331098" y="333756"/>
            <a:ext cx="3396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Case Studies: AI in Vehicle Damage Assessment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429207"/>
            <a:ext cx="35341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11450" y="1666951"/>
            <a:ext cx="952805" cy="256946"/>
          </a:xfrm>
          <a:prstGeom prst="roundRect">
            <a:avLst>
              <a:gd name="adj" fmla="val 263609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6606" y="1714500"/>
            <a:ext cx="8220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Leader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09244" y="2238451"/>
            <a:ext cx="3057754" cy="9144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09828" y="1781251"/>
            <a:ext cx="256946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99946" y="1668780"/>
            <a:ext cx="1138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Tractable AI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399946" y="1922069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London, UK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36346" y="2400300"/>
            <a:ext cx="30339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단위(Pixel-level) 정밀 분석으로 견적 정확도 극대화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36346" y="2876702"/>
            <a:ext cx="30147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미국, 유럽, 아시아 등 글로벌 대형 보험사와 파트너십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36346" y="3152851"/>
            <a:ext cx="25767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손해 평가 및 빠른 보험금 지급 자동화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0598" y="1429207"/>
            <a:ext cx="35341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34226" y="1666951"/>
            <a:ext cx="790956" cy="256946"/>
          </a:xfrm>
          <a:prstGeom prst="roundRect">
            <a:avLst>
              <a:gd name="adj" fmla="val 263609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38467" y="1714500"/>
            <a:ext cx="6601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 App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68342" y="2238451"/>
            <a:ext cx="3057754" cy="9144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711903" y="1781251"/>
            <a:ext cx="171907" cy="2286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159045" y="1668780"/>
            <a:ext cx="824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Ravin AI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159045" y="1922069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Haifa, Israel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695444" y="2400300"/>
            <a:ext cx="30339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CCTV 및 모바일 앱을 활용한 비대면 차량 360도 점검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4695444" y="2676449"/>
            <a:ext cx="2701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딜러, 렌터카 반납 검수 프로세스 최적화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5444" y="2952598"/>
            <a:ext cx="2539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상태 리포트 자동 생성으로 투명성 확보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089697" y="1429207"/>
            <a:ext cx="35341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0477195" y="1666951"/>
            <a:ext cx="905256" cy="256946"/>
          </a:xfrm>
          <a:prstGeom prst="roundRect">
            <a:avLst>
              <a:gd name="adj" fmla="val 263609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582351" y="1714500"/>
            <a:ext cx="7744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Focused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8328355" y="2238451"/>
            <a:ext cx="3057754" cy="9144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42655" y="1781251"/>
            <a:ext cx="228600" cy="2286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918143" y="1668780"/>
            <a:ext cx="1110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Inspektlabs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8918143" y="1922069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Delaware, USA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8454542" y="2400300"/>
            <a:ext cx="30339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Semi-supervised Learning 파이프라인으로 학습 효율 증대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8454542" y="2876702"/>
            <a:ext cx="30339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BBox 데이터를 정밀 Segmentation으로 고도화하는 기술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454542" y="3353105"/>
            <a:ext cx="2738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동영상 기반 검사로 사기(Fraud) 탐지 기능 강화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2451506" y="3943807"/>
            <a:ext cx="35341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958791" y="4181551"/>
            <a:ext cx="790956" cy="256946"/>
          </a:xfrm>
          <a:prstGeom prst="roundRect">
            <a:avLst>
              <a:gd name="adj" fmla="val 263609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063947" y="4229100"/>
            <a:ext cx="6601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2689250" y="4753051"/>
            <a:ext cx="3057754" cy="9144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2788920" y="4295851"/>
            <a:ext cx="256946" cy="22860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3279953" y="4183380"/>
            <a:ext cx="1014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Deloitte AI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3279953" y="4436669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Network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2816352" y="4914900"/>
            <a:ext cx="26910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손상 판독 결과를 수리비 산출 시스템과 연동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2816352" y="5191049"/>
            <a:ext cx="2824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사고 리포트 자동화로 행정 처리 시간 획기적 단축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2816352" y="5467198"/>
            <a:ext cx="28154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플릿(Fleet) 관리를 위한 맞춤형 솔루션 제공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210605" y="3943807"/>
            <a:ext cx="35341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8749894" y="4181551"/>
            <a:ext cx="761695" cy="256946"/>
          </a:xfrm>
          <a:prstGeom prst="roundRect">
            <a:avLst>
              <a:gd name="adj" fmla="val 263609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8855050" y="4229100"/>
            <a:ext cx="631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Ecosystem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6448349" y="4753051"/>
            <a:ext cx="3057754" cy="9144"/>
          </a:xfrm>
          <a:prstGeom prst="rect">
            <a:avLst/>
          </a:prstGeom>
          <a:solidFill>
            <a:srgbClr val="F1F2F6"/>
          </a:solidFill>
          <a:ln/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6548018" y="4295851"/>
            <a:ext cx="256946" cy="22860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7039051" y="4183380"/>
            <a:ext cx="1472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Verisk Analytics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7039051" y="4436669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Jersey, USA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6575450" y="4914900"/>
            <a:ext cx="26910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보험 워크플로우에 AI 손상 평가 모듈 통합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6575450" y="5191049"/>
            <a:ext cx="2701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사고 데이터와 연계한 심도 있는 손해 사정</a:t>
            </a:r>
            <a:endParaRPr lang="en-US" sz="1000" dirty="0"/>
          </a:p>
        </p:txBody>
      </p:sp>
      <p:sp>
        <p:nvSpPr>
          <p:cNvPr id="57" name="Text 50"/>
          <p:cNvSpPr txBox="1"/>
          <p:nvPr/>
        </p:nvSpPr>
        <p:spPr>
          <a:xfrm>
            <a:off x="6575450" y="5467198"/>
            <a:ext cx="2910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Xactimate 등 업계 표준 플랫폼과의 강력한 연동성</a:t>
            </a:r>
            <a:endParaRPr lang="en-US" sz="1000" dirty="0"/>
          </a:p>
        </p:txBody>
      </p:sp>
      <p:sp>
        <p:nvSpPr>
          <p:cNvPr id="58" name="Shape 51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1828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기업 사례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64347" y="333756"/>
            <a:ext cx="3462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Domestic Case Studies: Leading AI Innovations in Korea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828800"/>
            <a:ext cx="3534156" cy="4000500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63014" y="2143354"/>
            <a:ext cx="1000354" cy="304495"/>
          </a:xfrm>
          <a:prstGeom prst="roundRect">
            <a:avLst>
              <a:gd name="adj" fmla="val 56306"/>
            </a:avLst>
          </a:prstGeom>
          <a:solidFill>
            <a:srgbClr val="F8F9FA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87373" y="2210105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Mobility Tech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054" y="2905963"/>
            <a:ext cx="2905049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054" y="2143354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00B8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90" r="-90"/>
          <a:stretch/>
        </p:blipFill>
        <p:spPr>
          <a:xfrm>
            <a:off x="1000354" y="2295144"/>
            <a:ext cx="381305" cy="3044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66951" y="2174443"/>
            <a:ext cx="14721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쏘카 (SOCAR)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66951" y="24926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카셰어링 플랫폼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65276" y="3143707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U-Net 모델에 EfficientNet 백본을 적용한 고성능 세그멘테이션 구현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65276" y="378287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Damage Classifier 전단 필터로 연산 효율 최적화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65276" y="442295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평균 7-8만 장의 차량 이미지 처리 및 자동 분류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6054" y="5195621"/>
            <a:ext cx="1152144" cy="323698"/>
          </a:xfrm>
          <a:prstGeom prst="roundRect">
            <a:avLst>
              <a:gd name="adj" fmla="val 166168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9498" y="5262372"/>
            <a:ext cx="9985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96% 달성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330598" y="1828800"/>
            <a:ext cx="3534156" cy="4000500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49263" y="2143354"/>
            <a:ext cx="1104595" cy="304495"/>
          </a:xfrm>
          <a:prstGeom prst="roundRect">
            <a:avLst>
              <a:gd name="adj" fmla="val 56306"/>
            </a:avLst>
          </a:prstGeom>
          <a:solidFill>
            <a:srgbClr val="F8F9FA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72707" y="2210105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Institute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45152" y="2905963"/>
            <a:ext cx="2905049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5" name="Shape 22"/>
          <p:cNvSpPr/>
          <p:nvPr/>
        </p:nvSpPr>
        <p:spPr>
          <a:xfrm>
            <a:off x="4645152" y="2143354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2C3E50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6942" y="2295144"/>
            <a:ext cx="304495" cy="30449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426050" y="2174443"/>
            <a:ext cx="11292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보험개발원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426050" y="2492654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AOS 알파 시스템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4824374" y="3143707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25만 장의 파손 이미지를 학습하여 AI 수리비 산출 시스템 개발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824374" y="378287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사진만으로 부품 종류와 손상 심도를 자동 판독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824374" y="442295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보험 업계 공용 솔루션으로 표준화된 손해 사정 제공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645152" y="5195621"/>
            <a:ext cx="1152144" cy="323698"/>
          </a:xfrm>
          <a:prstGeom prst="roundRect">
            <a:avLst>
              <a:gd name="adj" fmla="val 166168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768596" y="5262372"/>
            <a:ext cx="9985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인식률 99%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8089697" y="1828800"/>
            <a:ext cx="3534156" cy="4000500"/>
          </a:xfrm>
          <a:prstGeom prst="roundRect">
            <a:avLst>
              <a:gd name="adj" fmla="val 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10316137" y="2143354"/>
            <a:ext cx="1228954" cy="304495"/>
          </a:xfrm>
          <a:prstGeom prst="roundRect">
            <a:avLst>
              <a:gd name="adj" fmla="val 56306"/>
            </a:avLst>
          </a:prstGeom>
          <a:solidFill>
            <a:srgbClr val="F8F9FA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439581" y="2210105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Insurance Service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404250" y="2905963"/>
            <a:ext cx="2905049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38" name="Shape 34"/>
          <p:cNvSpPr/>
          <p:nvPr/>
        </p:nvSpPr>
        <p:spPr>
          <a:xfrm>
            <a:off x="8404250" y="2143354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F39C12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56955" y="2295144"/>
            <a:ext cx="304495" cy="30449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185148" y="2174443"/>
            <a:ext cx="13194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한화손해보험</a:t>
            </a:r>
            <a:endParaRPr lang="en-US" sz="1600" dirty="0"/>
          </a:p>
        </p:txBody>
      </p:sp>
      <p:sp>
        <p:nvSpPr>
          <p:cNvPr id="41" name="Text 36"/>
          <p:cNvSpPr txBox="1"/>
          <p:nvPr/>
        </p:nvSpPr>
        <p:spPr>
          <a:xfrm>
            <a:off x="9185148" y="2492654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차도리 앱 (Alpha App)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8583473" y="3143707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스마트폰 사진 촬영 기반의 AI 자동 수리비 견적 산출 서비스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8583473" y="378287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고객이 직접 사고 현장에서 예상 수리비를 즉시 확인 가능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583473" y="4422953"/>
            <a:ext cx="28392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입고 가능한 우수 정비업체 매칭까지 원스톱 연결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8404250" y="5195621"/>
            <a:ext cx="1257300" cy="323698"/>
          </a:xfrm>
          <a:prstGeom prst="roundRect">
            <a:avLst>
              <a:gd name="adj" fmla="val 166168"/>
            </a:avLst>
          </a:prstGeom>
          <a:solidFill>
            <a:srgbClr val="E3F2FD"/>
          </a:solidFill>
          <a:ln w="12700">
            <a:solidFill>
              <a:srgbClr val="0984E3">
                <a:alpha val="20000"/>
              </a:srgbClr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527694" y="5262372"/>
            <a:ext cx="11027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84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경험(CX) 혁신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28867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및 파이프라인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406433" y="333756"/>
            <a:ext cx="2319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AI Development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857707" y="2257654"/>
            <a:ext cx="10477195" cy="19202"/>
          </a:xfrm>
          <a:prstGeom prst="rect">
            <a:avLst/>
          </a:prstGeom>
          <a:solidFill>
            <a:srgbClr val="DFE6E9"/>
          </a:solidFill>
          <a:ln/>
        </p:spPr>
      </p:sp>
      <p:sp>
        <p:nvSpPr>
          <p:cNvPr id="9" name="Shape 7"/>
          <p:cNvSpPr/>
          <p:nvPr/>
        </p:nvSpPr>
        <p:spPr>
          <a:xfrm>
            <a:off x="857707" y="2257654"/>
            <a:ext cx="10477195" cy="19202"/>
          </a:xfrm>
          <a:prstGeom prst="rect">
            <a:avLst/>
          </a:prstGeom>
          <a:solidFill>
            <a:srgbClr val="B2BEC3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2553005" y="2018995"/>
            <a:ext cx="123444" cy="190195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4839005" y="2018995"/>
            <a:ext cx="123444" cy="19019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7125005" y="2018995"/>
            <a:ext cx="123444" cy="19019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9411005" y="2018995"/>
            <a:ext cx="123444" cy="19019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76402" y="1733702"/>
            <a:ext cx="2095805" cy="419069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76402" y="1733702"/>
            <a:ext cx="2095805" cy="47549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17" name="Shape 11"/>
          <p:cNvSpPr/>
          <p:nvPr/>
        </p:nvSpPr>
        <p:spPr>
          <a:xfrm>
            <a:off x="476402" y="3229661"/>
            <a:ext cx="2095805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18" name="Shape 12"/>
          <p:cNvSpPr/>
          <p:nvPr/>
        </p:nvSpPr>
        <p:spPr>
          <a:xfrm>
            <a:off x="1285646" y="2219249"/>
            <a:ext cx="476402" cy="476402"/>
          </a:xfrm>
          <a:prstGeom prst="ellipse">
            <a:avLst/>
          </a:prstGeom>
          <a:solidFill>
            <a:srgbClr val="A29BFE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 t="-600" b="-600"/>
          <a:stretch/>
        </p:blipFill>
        <p:spPr>
          <a:xfrm>
            <a:off x="1433779" y="2352751"/>
            <a:ext cx="181051" cy="2093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70839" y="3429000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업로드 차량 이미지 수집 및 품질 필터링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70839" y="3889858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파손 부위 Bounding Box 및 Polygon 정밀 라벨링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70839" y="4350715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데이터셋 버전 관리 및 Train/Val/Test 분할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6402" y="4888382"/>
            <a:ext cx="2095805" cy="1104595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24" name="Shape 17"/>
          <p:cNvSpPr/>
          <p:nvPr/>
        </p:nvSpPr>
        <p:spPr>
          <a:xfrm>
            <a:off x="629107" y="5274259"/>
            <a:ext cx="552298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14146" y="5321808"/>
            <a:ext cx="4599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S3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1236269" y="5274259"/>
            <a:ext cx="428854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322222" y="5321808"/>
            <a:ext cx="3364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CVAT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29107" y="5583326"/>
            <a:ext cx="819302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14146" y="5631790"/>
            <a:ext cx="72694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Label Studio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1263701" y="19714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917143" y="2809951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수집·라벨링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29107" y="5041087"/>
            <a:ext cx="716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2762402" y="1733702"/>
            <a:ext cx="2095805" cy="419069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762402" y="1733702"/>
            <a:ext cx="2095805" cy="47549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35" name="Shape 28"/>
          <p:cNvSpPr/>
          <p:nvPr/>
        </p:nvSpPr>
        <p:spPr>
          <a:xfrm>
            <a:off x="2762402" y="3229661"/>
            <a:ext cx="2095805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36" name="Shape 29"/>
          <p:cNvSpPr/>
          <p:nvPr/>
        </p:nvSpPr>
        <p:spPr>
          <a:xfrm>
            <a:off x="3571646" y="2219249"/>
            <a:ext cx="476402" cy="476402"/>
          </a:xfrm>
          <a:prstGeom prst="ellipse">
            <a:avLst/>
          </a:prstGeom>
          <a:solidFill>
            <a:srgbClr val="74B9FF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05149" y="2352751"/>
            <a:ext cx="209398" cy="20939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056839" y="3429000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리사이즈, 정규화, 밝기/대비 보정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3056839" y="3889858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Augmentation (회전, 노이즈, CutMix)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3056839" y="4350715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Localization: 차량 영역 Crop (배경 제거)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2762402" y="4888382"/>
            <a:ext cx="2095805" cy="1104595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42" name="Shape 34"/>
          <p:cNvSpPr/>
          <p:nvPr/>
        </p:nvSpPr>
        <p:spPr>
          <a:xfrm>
            <a:off x="2915107" y="5274259"/>
            <a:ext cx="580644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3000146" y="5321808"/>
            <a:ext cx="4882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3546958" y="5274259"/>
            <a:ext cx="990295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3631997" y="5321808"/>
            <a:ext cx="8979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Albumentations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2915107" y="5583326"/>
            <a:ext cx="543154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000146" y="5631790"/>
            <a:ext cx="4507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NumPy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3549701" y="19714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02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3079699" y="2809951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(Pre-process)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2915107" y="5041087"/>
            <a:ext cx="716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5048402" y="1733702"/>
            <a:ext cx="2095805" cy="419069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5048402" y="1733702"/>
            <a:ext cx="2095805" cy="47549"/>
          </a:xfrm>
          <a:prstGeom prst="rect">
            <a:avLst/>
          </a:prstGeom>
          <a:solidFill>
            <a:srgbClr val="0984E3"/>
          </a:solidFill>
          <a:ln/>
        </p:spPr>
      </p:sp>
      <p:sp>
        <p:nvSpPr>
          <p:cNvPr id="53" name="Shape 45"/>
          <p:cNvSpPr/>
          <p:nvPr/>
        </p:nvSpPr>
        <p:spPr>
          <a:xfrm>
            <a:off x="5048402" y="3229661"/>
            <a:ext cx="2095805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54" name="Shape 46"/>
          <p:cNvSpPr/>
          <p:nvPr/>
        </p:nvSpPr>
        <p:spPr>
          <a:xfrm>
            <a:off x="5857646" y="2219249"/>
            <a:ext cx="476402" cy="476402"/>
          </a:xfrm>
          <a:prstGeom prst="ellipse">
            <a:avLst/>
          </a:prstGeom>
          <a:solidFill>
            <a:srgbClr val="0984E3"/>
          </a:solidFill>
          <a:ln/>
        </p:spPr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91149" y="2352751"/>
            <a:ext cx="209398" cy="209398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5342839" y="3429000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Classifier: 파손 유무 1차 판별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5342839" y="3889858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Segmentation: U-Net (EfficientNet Backbone)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5342839" y="4350715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손실 함수 최적화 및 학습 파라미터 튜닝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5048402" y="4888382"/>
            <a:ext cx="2095805" cy="1104595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60" name="Shape 51"/>
          <p:cNvSpPr/>
          <p:nvPr/>
        </p:nvSpPr>
        <p:spPr>
          <a:xfrm>
            <a:off x="5201107" y="5274259"/>
            <a:ext cx="580644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5286146" y="5321808"/>
            <a:ext cx="4882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5838444" y="5274259"/>
            <a:ext cx="761695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5923483" y="5321808"/>
            <a:ext cx="6693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5201107" y="5583326"/>
            <a:ext cx="457200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5286146" y="5631790"/>
            <a:ext cx="364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CUDA</a:t>
            </a:r>
            <a:endParaRPr lang="en-US" sz="800" dirty="0"/>
          </a:p>
        </p:txBody>
      </p:sp>
      <p:sp>
        <p:nvSpPr>
          <p:cNvPr id="66" name="Text 57"/>
          <p:cNvSpPr txBox="1"/>
          <p:nvPr/>
        </p:nvSpPr>
        <p:spPr>
          <a:xfrm>
            <a:off x="5835701" y="19714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03</a:t>
            </a:r>
            <a:endParaRPr lang="en-US" sz="900" dirty="0"/>
          </a:p>
        </p:txBody>
      </p:sp>
      <p:sp>
        <p:nvSpPr>
          <p:cNvPr id="67" name="Text 58"/>
          <p:cNvSpPr txBox="1"/>
          <p:nvPr/>
        </p:nvSpPr>
        <p:spPr>
          <a:xfrm>
            <a:off x="5406847" y="2809951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(Training)</a:t>
            </a:r>
            <a:endParaRPr lang="en-US" sz="1200" dirty="0"/>
          </a:p>
        </p:txBody>
      </p:sp>
      <p:sp>
        <p:nvSpPr>
          <p:cNvPr id="68" name="Text 59"/>
          <p:cNvSpPr txBox="1"/>
          <p:nvPr/>
        </p:nvSpPr>
        <p:spPr>
          <a:xfrm>
            <a:off x="5201107" y="5041087"/>
            <a:ext cx="716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69" name="Shape 60"/>
          <p:cNvSpPr/>
          <p:nvPr/>
        </p:nvSpPr>
        <p:spPr>
          <a:xfrm>
            <a:off x="7334402" y="1733702"/>
            <a:ext cx="2095805" cy="419069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0" name="Shape 61"/>
          <p:cNvSpPr/>
          <p:nvPr/>
        </p:nvSpPr>
        <p:spPr>
          <a:xfrm>
            <a:off x="7334402" y="1733702"/>
            <a:ext cx="2095805" cy="47549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1" name="Shape 62"/>
          <p:cNvSpPr/>
          <p:nvPr/>
        </p:nvSpPr>
        <p:spPr>
          <a:xfrm>
            <a:off x="7334402" y="3229661"/>
            <a:ext cx="2095805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72" name="Shape 63"/>
          <p:cNvSpPr/>
          <p:nvPr/>
        </p:nvSpPr>
        <p:spPr>
          <a:xfrm>
            <a:off x="8143646" y="2219249"/>
            <a:ext cx="476402" cy="476402"/>
          </a:xfrm>
          <a:prstGeom prst="ellipse">
            <a:avLst/>
          </a:prstGeom>
          <a:solidFill>
            <a:srgbClr val="00B894"/>
          </a:solidFill>
          <a:ln/>
        </p:spPr>
      </p:sp>
      <p:pic>
        <p:nvPicPr>
          <p:cNvPr id="7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77149" y="2352751"/>
            <a:ext cx="209398" cy="209398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7628839" y="3429000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 map → Binary Mask 변환 (Thresholding)</a:t>
            </a:r>
            <a:endParaRPr lang="en-US" sz="900" dirty="0"/>
          </a:p>
        </p:txBody>
      </p:sp>
      <p:sp>
        <p:nvSpPr>
          <p:cNvPr id="75" name="Text 65"/>
          <p:cNvSpPr txBox="1"/>
          <p:nvPr/>
        </p:nvSpPr>
        <p:spPr>
          <a:xfrm>
            <a:off x="7628839" y="3889858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CRF(Conditional Random Field)로 경계 보정</a:t>
            </a:r>
            <a:endParaRPr lang="en-US" sz="900" dirty="0"/>
          </a:p>
        </p:txBody>
      </p:sp>
      <p:sp>
        <p:nvSpPr>
          <p:cNvPr id="76" name="Text 66"/>
          <p:cNvSpPr txBox="1"/>
          <p:nvPr/>
        </p:nvSpPr>
        <p:spPr>
          <a:xfrm>
            <a:off x="7628839" y="4350715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 제거 및 파손 면적/심도 계산</a:t>
            </a:r>
            <a:endParaRPr lang="en-US" sz="900" dirty="0"/>
          </a:p>
        </p:txBody>
      </p:sp>
      <p:sp>
        <p:nvSpPr>
          <p:cNvPr id="77" name="Shape 67"/>
          <p:cNvSpPr/>
          <p:nvPr/>
        </p:nvSpPr>
        <p:spPr>
          <a:xfrm>
            <a:off x="7334402" y="5134356"/>
            <a:ext cx="2095805" cy="790956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78" name="Shape 68"/>
          <p:cNvSpPr/>
          <p:nvPr/>
        </p:nvSpPr>
        <p:spPr>
          <a:xfrm>
            <a:off x="7487107" y="5519318"/>
            <a:ext cx="457200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79" name="Text 69"/>
          <p:cNvSpPr txBox="1"/>
          <p:nvPr/>
        </p:nvSpPr>
        <p:spPr>
          <a:xfrm>
            <a:off x="7572146" y="5567782"/>
            <a:ext cx="364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SciPy</a:t>
            </a:r>
            <a:endParaRPr lang="en-US" sz="800" dirty="0"/>
          </a:p>
        </p:txBody>
      </p:sp>
      <p:sp>
        <p:nvSpPr>
          <p:cNvPr id="80" name="Shape 70"/>
          <p:cNvSpPr/>
          <p:nvPr/>
        </p:nvSpPr>
        <p:spPr>
          <a:xfrm>
            <a:off x="7992770" y="5519318"/>
            <a:ext cx="685800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81" name="Text 71"/>
          <p:cNvSpPr txBox="1"/>
          <p:nvPr/>
        </p:nvSpPr>
        <p:spPr>
          <a:xfrm>
            <a:off x="8078724" y="5567782"/>
            <a:ext cx="5934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DenseCRF</a:t>
            </a:r>
            <a:endParaRPr lang="en-US" sz="800" dirty="0"/>
          </a:p>
        </p:txBody>
      </p:sp>
      <p:sp>
        <p:nvSpPr>
          <p:cNvPr id="82" name="Shape 72"/>
          <p:cNvSpPr/>
          <p:nvPr/>
        </p:nvSpPr>
        <p:spPr>
          <a:xfrm>
            <a:off x="8731606" y="5519318"/>
            <a:ext cx="543154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83" name="Text 73"/>
          <p:cNvSpPr txBox="1"/>
          <p:nvPr/>
        </p:nvSpPr>
        <p:spPr>
          <a:xfrm>
            <a:off x="8817559" y="5567782"/>
            <a:ext cx="4507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800" dirty="0"/>
          </a:p>
        </p:txBody>
      </p:sp>
      <p:sp>
        <p:nvSpPr>
          <p:cNvPr id="84" name="Text 74"/>
          <p:cNvSpPr txBox="1"/>
          <p:nvPr/>
        </p:nvSpPr>
        <p:spPr>
          <a:xfrm>
            <a:off x="8121701" y="19714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</a:t>
            </a:r>
            <a:endParaRPr lang="en-US" sz="900" dirty="0"/>
          </a:p>
        </p:txBody>
      </p:sp>
      <p:sp>
        <p:nvSpPr>
          <p:cNvPr id="85" name="Text 75"/>
          <p:cNvSpPr txBox="1"/>
          <p:nvPr/>
        </p:nvSpPr>
        <p:spPr>
          <a:xfrm>
            <a:off x="7615123" y="2809951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후처리 (Post-process)</a:t>
            </a:r>
            <a:endParaRPr lang="en-US" sz="1200" dirty="0"/>
          </a:p>
        </p:txBody>
      </p:sp>
      <p:sp>
        <p:nvSpPr>
          <p:cNvPr id="86" name="Text 76"/>
          <p:cNvSpPr txBox="1"/>
          <p:nvPr/>
        </p:nvSpPr>
        <p:spPr>
          <a:xfrm>
            <a:off x="7487107" y="5286146"/>
            <a:ext cx="716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87" name="Shape 77"/>
          <p:cNvSpPr/>
          <p:nvPr/>
        </p:nvSpPr>
        <p:spPr>
          <a:xfrm>
            <a:off x="9620402" y="1733702"/>
            <a:ext cx="2095805" cy="419069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8" name="Shape 78"/>
          <p:cNvSpPr/>
          <p:nvPr/>
        </p:nvSpPr>
        <p:spPr>
          <a:xfrm>
            <a:off x="9620402" y="1733702"/>
            <a:ext cx="2095805" cy="47549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9" name="Shape 79"/>
          <p:cNvSpPr/>
          <p:nvPr/>
        </p:nvSpPr>
        <p:spPr>
          <a:xfrm>
            <a:off x="9620402" y="3229661"/>
            <a:ext cx="2095805" cy="9144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90" name="Shape 80"/>
          <p:cNvSpPr/>
          <p:nvPr/>
        </p:nvSpPr>
        <p:spPr>
          <a:xfrm>
            <a:off x="10429646" y="2219249"/>
            <a:ext cx="476402" cy="476402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91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63149" y="2352751"/>
            <a:ext cx="209398" cy="209398"/>
          </a:xfrm>
          <a:prstGeom prst="rect">
            <a:avLst/>
          </a:prstGeom>
        </p:spPr>
      </p:pic>
      <p:sp>
        <p:nvSpPr>
          <p:cNvPr id="92" name="Text 81"/>
          <p:cNvSpPr txBox="1"/>
          <p:nvPr/>
        </p:nvSpPr>
        <p:spPr>
          <a:xfrm>
            <a:off x="9914839" y="3429000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경량화 (Quantization) 및 ONNX 변환</a:t>
            </a:r>
            <a:endParaRPr lang="en-US" sz="900" dirty="0"/>
          </a:p>
        </p:txBody>
      </p:sp>
      <p:sp>
        <p:nvSpPr>
          <p:cNvPr id="93" name="Text 82"/>
          <p:cNvSpPr txBox="1"/>
          <p:nvPr/>
        </p:nvSpPr>
        <p:spPr>
          <a:xfrm>
            <a:off x="9914839" y="3889858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서버 구축 및 실시간 추론</a:t>
            </a:r>
            <a:endParaRPr lang="en-US" sz="900" dirty="0"/>
          </a:p>
        </p:txBody>
      </p:sp>
      <p:sp>
        <p:nvSpPr>
          <p:cNvPr id="94" name="Text 83"/>
          <p:cNvSpPr txBox="1"/>
          <p:nvPr/>
        </p:nvSpPr>
        <p:spPr>
          <a:xfrm>
            <a:off x="9914839" y="4350715"/>
            <a:ext cx="171267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모니터링 및 데이터 드리프트 감지</a:t>
            </a:r>
            <a:endParaRPr lang="en-US" sz="900" dirty="0"/>
          </a:p>
        </p:txBody>
      </p:sp>
      <p:sp>
        <p:nvSpPr>
          <p:cNvPr id="95" name="Shape 84"/>
          <p:cNvSpPr/>
          <p:nvPr/>
        </p:nvSpPr>
        <p:spPr>
          <a:xfrm>
            <a:off x="9620402" y="4888382"/>
            <a:ext cx="2095805" cy="1104595"/>
          </a:xfrm>
          <a:prstGeom prst="rect">
            <a:avLst/>
          </a:prstGeom>
          <a:solidFill>
            <a:srgbClr val="F1F2F6"/>
          </a:solidFill>
          <a:ln/>
        </p:spPr>
      </p:sp>
      <p:sp>
        <p:nvSpPr>
          <p:cNvPr id="96" name="Shape 85"/>
          <p:cNvSpPr/>
          <p:nvPr/>
        </p:nvSpPr>
        <p:spPr>
          <a:xfrm>
            <a:off x="9773107" y="5274259"/>
            <a:ext cx="533095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97" name="Text 86"/>
          <p:cNvSpPr txBox="1"/>
          <p:nvPr/>
        </p:nvSpPr>
        <p:spPr>
          <a:xfrm>
            <a:off x="9858146" y="5321808"/>
            <a:ext cx="4407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</a:t>
            </a:r>
            <a:endParaRPr lang="en-US" sz="800" dirty="0"/>
          </a:p>
        </p:txBody>
      </p:sp>
      <p:sp>
        <p:nvSpPr>
          <p:cNvPr id="98" name="Shape 87"/>
          <p:cNvSpPr/>
          <p:nvPr/>
        </p:nvSpPr>
        <p:spPr>
          <a:xfrm>
            <a:off x="10357409" y="5274259"/>
            <a:ext cx="552298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99" name="Text 88"/>
          <p:cNvSpPr txBox="1"/>
          <p:nvPr/>
        </p:nvSpPr>
        <p:spPr>
          <a:xfrm>
            <a:off x="10443362" y="5321808"/>
            <a:ext cx="4599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800" dirty="0"/>
          </a:p>
        </p:txBody>
      </p:sp>
      <p:sp>
        <p:nvSpPr>
          <p:cNvPr id="100" name="Shape 89"/>
          <p:cNvSpPr/>
          <p:nvPr/>
        </p:nvSpPr>
        <p:spPr>
          <a:xfrm>
            <a:off x="9773107" y="5583326"/>
            <a:ext cx="647395" cy="256946"/>
          </a:xfrm>
          <a:prstGeom prst="roundRect">
            <a:avLst>
              <a:gd name="adj" fmla="val 52722"/>
            </a:avLst>
          </a:prstGeom>
          <a:solidFill>
            <a:srgbClr val="FFFFFF"/>
          </a:solidFill>
          <a:ln w="12700">
            <a:solidFill>
              <a:srgbClr val="DFE6E9"/>
            </a:solidFill>
            <a:prstDash val="solid"/>
          </a:ln>
        </p:spPr>
      </p:sp>
      <p:sp>
        <p:nvSpPr>
          <p:cNvPr id="101" name="Text 90"/>
          <p:cNvSpPr txBox="1"/>
          <p:nvPr/>
        </p:nvSpPr>
        <p:spPr>
          <a:xfrm>
            <a:off x="9858146" y="5631790"/>
            <a:ext cx="55504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TensorRT</a:t>
            </a:r>
            <a:endParaRPr lang="en-US" sz="800" dirty="0"/>
          </a:p>
        </p:txBody>
      </p:sp>
      <p:sp>
        <p:nvSpPr>
          <p:cNvPr id="102" name="Text 91"/>
          <p:cNvSpPr txBox="1"/>
          <p:nvPr/>
        </p:nvSpPr>
        <p:spPr>
          <a:xfrm>
            <a:off x="10407701" y="19714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05</a:t>
            </a:r>
            <a:endParaRPr lang="en-US" sz="900" dirty="0"/>
          </a:p>
        </p:txBody>
      </p:sp>
      <p:sp>
        <p:nvSpPr>
          <p:cNvPr id="103" name="Text 92"/>
          <p:cNvSpPr txBox="1"/>
          <p:nvPr/>
        </p:nvSpPr>
        <p:spPr>
          <a:xfrm>
            <a:off x="10275113" y="2809951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및 서빙</a:t>
            </a:r>
            <a:endParaRPr lang="en-US" sz="1200" dirty="0"/>
          </a:p>
        </p:txBody>
      </p:sp>
      <p:sp>
        <p:nvSpPr>
          <p:cNvPr id="104" name="Text 93"/>
          <p:cNvSpPr txBox="1"/>
          <p:nvPr/>
        </p:nvSpPr>
        <p:spPr>
          <a:xfrm>
            <a:off x="9773107" y="5041087"/>
            <a:ext cx="7168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1828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평가 지표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03590" y="333756"/>
            <a:ext cx="3119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Metrics &amp; KPIs for Damage Detection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38098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238098"/>
            <a:ext cx="2590495" cy="47549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" y="1476756"/>
            <a:ext cx="433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t="-45" b="-45"/>
          <a:stretch/>
        </p:blipFill>
        <p:spPr>
          <a:xfrm>
            <a:off x="2676449" y="1490472"/>
            <a:ext cx="256946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71500" y="1828800"/>
            <a:ext cx="2590495" cy="2657246"/>
          </a:xfrm>
          <a:prstGeom prst="rect">
            <a:avLst/>
          </a:prstGeom>
          <a:solidFill>
            <a:srgbClr val="FAFB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9498" y="2584094"/>
            <a:ext cx="1714500" cy="1143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1500" y="4481474"/>
            <a:ext cx="2590495" cy="1943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0100" y="4671670"/>
            <a:ext cx="2177186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Intersection over Union. 예측 영역과 실제 정답 영역이 얼마나 겹치는지를 나타내는 Segmentation 핵심 지표.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" y="5586070"/>
            <a:ext cx="2133295" cy="286207"/>
          </a:xfrm>
          <a:prstGeom prst="roundRect">
            <a:avLst>
              <a:gd name="adj" fmla="val 63898"/>
            </a:avLst>
          </a:prstGeom>
          <a:solidFill>
            <a:srgbClr val="F1F2F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09498" y="5662879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Overlap Area / Union Area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00100" y="5967374"/>
            <a:ext cx="2133295" cy="267005"/>
          </a:xfrm>
          <a:prstGeom prst="roundRect">
            <a:avLst>
              <a:gd name="adj" fmla="val 244618"/>
            </a:avLst>
          </a:prstGeom>
          <a:solidFill>
            <a:srgbClr val="00D2D3">
              <a:alpha val="10000"/>
            </a:srgb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330452" y="6005779"/>
            <a:ext cx="11695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A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Target: IoU &gt; 0.85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90595" y="1238098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390595" y="1238098"/>
            <a:ext cx="2590495" cy="47549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619195" y="1476756"/>
            <a:ext cx="529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/>
          <a:stretch/>
        </p:blipFill>
        <p:spPr>
          <a:xfrm>
            <a:off x="5524805" y="1490472"/>
            <a:ext cx="228600" cy="2286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390595" y="1828800"/>
            <a:ext cx="2590495" cy="2857500"/>
          </a:xfrm>
          <a:prstGeom prst="rect">
            <a:avLst/>
          </a:prstGeom>
          <a:solidFill>
            <a:srgbClr val="FAFBF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185" b="-185"/>
          <a:stretch/>
        </p:blipFill>
        <p:spPr>
          <a:xfrm>
            <a:off x="3486607" y="1923898"/>
            <a:ext cx="2400300" cy="266730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390595" y="4681728"/>
            <a:ext cx="2590495" cy="1742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3619195" y="4871923"/>
            <a:ext cx="220553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Average Precision. 다양한 IoU 임계값에서의 정밀도(Precision) 평균으로, 객체 탐지 모델의 종합 성능.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619195" y="5586070"/>
            <a:ext cx="2133295" cy="286207"/>
          </a:xfrm>
          <a:prstGeom prst="roundRect">
            <a:avLst>
              <a:gd name="adj" fmla="val 63898"/>
            </a:avLst>
          </a:prstGeom>
          <a:solidFill>
            <a:srgbClr val="F1F2F6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760013" y="5662879"/>
            <a:ext cx="19431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Average(Precision @ Recall)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619195" y="5967374"/>
            <a:ext cx="2133295" cy="267005"/>
          </a:xfrm>
          <a:prstGeom prst="roundRect">
            <a:avLst>
              <a:gd name="adj" fmla="val 244618"/>
            </a:avLst>
          </a:prstGeom>
          <a:solidFill>
            <a:srgbClr val="5F27CD">
              <a:alpha val="10000"/>
            </a:srgb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3978554" y="6005779"/>
            <a:ext cx="151241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F27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Target: mAP@50 &gt; 0.90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210605" y="1238098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210605" y="1238098"/>
            <a:ext cx="2590495" cy="47549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439205" y="1476756"/>
            <a:ext cx="890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</a:t>
            </a:r>
            <a:endParaRPr lang="en-US" sz="13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>
            <a:alphaModFix amt="80000"/>
          </a:blip>
          <a:srcRect l="-80" r="-80"/>
          <a:stretch/>
        </p:blipFill>
        <p:spPr>
          <a:xfrm>
            <a:off x="8287207" y="1490472"/>
            <a:ext cx="286207" cy="22860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210605" y="1828800"/>
            <a:ext cx="2590495" cy="2857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7" name="Shape 30"/>
          <p:cNvSpPr/>
          <p:nvPr/>
        </p:nvSpPr>
        <p:spPr>
          <a:xfrm>
            <a:off x="7200900" y="2759659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FFFFF"/>
          </a:solidFill>
          <a:ln w="50800">
            <a:solidFill>
              <a:srgbClr val="FBBF24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8" name="Text 31"/>
          <p:cNvSpPr txBox="1"/>
          <p:nvPr/>
        </p:nvSpPr>
        <p:spPr>
          <a:xfrm>
            <a:off x="7301484" y="2931566"/>
            <a:ext cx="5532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96%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005218" y="3436315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7005218" y="358810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670902" y="3436315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7670902" y="3588106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6210605" y="4681728"/>
            <a:ext cx="2590495" cy="1742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6439205" y="4871923"/>
            <a:ext cx="2129638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정밀도와 재현율의 조화 평균. 데이터 불균형이 심한 파손 유무 판별(Classification) 시 중요한 척도.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6439205" y="5586070"/>
            <a:ext cx="2133295" cy="286207"/>
          </a:xfrm>
          <a:prstGeom prst="roundRect">
            <a:avLst>
              <a:gd name="adj" fmla="val 63898"/>
            </a:avLst>
          </a:prstGeom>
          <a:solidFill>
            <a:srgbClr val="F1F2F6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6785762" y="5662879"/>
            <a:ext cx="15343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(P * R) / (P + R)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439205" y="5967374"/>
            <a:ext cx="2133295" cy="267005"/>
          </a:xfrm>
          <a:prstGeom prst="roundRect">
            <a:avLst>
              <a:gd name="adj" fmla="val 244618"/>
            </a:avLst>
          </a:prstGeom>
          <a:solidFill>
            <a:srgbClr val="FF9F43">
              <a:alpha val="10000"/>
            </a:srgbClr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054596" y="6005779"/>
            <a:ext cx="9985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58E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Balance Metric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9029700" y="1238098"/>
            <a:ext cx="2590495" cy="5181905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9029700" y="1238098"/>
            <a:ext cx="2590495" cy="47549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9258300" y="1476756"/>
            <a:ext cx="462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FPS</a:t>
            </a:r>
            <a:endParaRPr lang="en-US" sz="13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/>
          <a:stretch/>
        </p:blipFill>
        <p:spPr>
          <a:xfrm>
            <a:off x="11162995" y="1490472"/>
            <a:ext cx="228600" cy="22860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9029700" y="1828800"/>
            <a:ext cx="2590495" cy="2857500"/>
          </a:xfrm>
          <a:prstGeom prst="rect">
            <a:avLst/>
          </a:prstGeom>
          <a:solidFill>
            <a:srgbClr val="FAFBFC"/>
          </a:solidFill>
          <a:ln/>
        </p:spPr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715500" y="2645359"/>
            <a:ext cx="1218895" cy="1218895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10116007" y="3007462"/>
            <a:ext cx="590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30+</a:t>
            </a:r>
            <a:endParaRPr lang="en-US" sz="1800" dirty="0"/>
          </a:p>
        </p:txBody>
      </p:sp>
      <p:sp>
        <p:nvSpPr>
          <p:cNvPr id="56" name="Text 47"/>
          <p:cNvSpPr txBox="1"/>
          <p:nvPr/>
        </p:nvSpPr>
        <p:spPr>
          <a:xfrm>
            <a:off x="9998964" y="3322015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Frames/Sec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9029700" y="4681728"/>
            <a:ext cx="2590495" cy="1742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9258300" y="4871923"/>
            <a:ext cx="220553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초당 프레임 처리 속도. 실시간 파손 탐지 및 사용자 경험(UX)을 결정하는 핵심 성능 지표.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9258300" y="5586070"/>
            <a:ext cx="2133295" cy="286207"/>
          </a:xfrm>
          <a:prstGeom prst="roundRect">
            <a:avLst>
              <a:gd name="adj" fmla="val 63898"/>
            </a:avLst>
          </a:prstGeom>
          <a:solidFill>
            <a:srgbClr val="F1F2F6"/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9536278" y="5662879"/>
            <a:ext cx="16669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4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per Inference (ms)</a:t>
            </a:r>
            <a:endParaRPr lang="en-US" sz="900" dirty="0"/>
          </a:p>
        </p:txBody>
      </p:sp>
      <p:sp>
        <p:nvSpPr>
          <p:cNvPr id="61" name="Shape 52"/>
          <p:cNvSpPr/>
          <p:nvPr/>
        </p:nvSpPr>
        <p:spPr>
          <a:xfrm>
            <a:off x="9258300" y="5967374"/>
            <a:ext cx="2133295" cy="267005"/>
          </a:xfrm>
          <a:prstGeom prst="roundRect">
            <a:avLst>
              <a:gd name="adj" fmla="val 244618"/>
            </a:avLst>
          </a:prstGeom>
          <a:solidFill>
            <a:srgbClr val="FF6B6B">
              <a:alpha val="10000"/>
            </a:srgbClr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9517990" y="6005779"/>
            <a:ext cx="17126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52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Target: &lt; 50ms (Real-time)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적용 도전과제와 해결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18220" y="333756"/>
            <a:ext cx="3110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Challenges &amp; Solutions in Real-world Deployment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5" r="-5"/>
          <a:stretch/>
        </p:blipFill>
        <p:spPr>
          <a:xfrm>
            <a:off x="10287000" y="5333695"/>
            <a:ext cx="2381098" cy="19046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" y="1723644"/>
            <a:ext cx="5333695" cy="19202"/>
          </a:xfrm>
          <a:prstGeom prst="rect">
            <a:avLst/>
          </a:prstGeom>
          <a:solidFill>
            <a:srgbClr val="D6303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129570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1238098"/>
            <a:ext cx="1448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6303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71500" y="2029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1500" y="2029054"/>
            <a:ext cx="57607" cy="952805"/>
          </a:xfrm>
          <a:prstGeom prst="rect">
            <a:avLst/>
          </a:prstGeom>
          <a:solidFill>
            <a:srgbClr val="FF7675"/>
          </a:solidFill>
          <a:ln/>
        </p:spPr>
      </p:sp>
      <p:sp>
        <p:nvSpPr>
          <p:cNvPr id="14" name="Shape 10"/>
          <p:cNvSpPr/>
          <p:nvPr/>
        </p:nvSpPr>
        <p:spPr>
          <a:xfrm>
            <a:off x="819302" y="2266798"/>
            <a:ext cx="476402" cy="476402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85723" y="2409444"/>
            <a:ext cx="14264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47495" y="2291486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저조도 및 환경 노이즈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447495" y="2539289"/>
            <a:ext cx="31793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지하주차장, 야간 촬영, 우천 시 반사광으로 인한 인식률 저하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1500" y="3172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1500" y="3172054"/>
            <a:ext cx="57607" cy="952805"/>
          </a:xfrm>
          <a:prstGeom prst="rect">
            <a:avLst/>
          </a:prstGeom>
          <a:solidFill>
            <a:srgbClr val="FF7675"/>
          </a:solidFill>
          <a:ln/>
        </p:spPr>
      </p:sp>
      <p:sp>
        <p:nvSpPr>
          <p:cNvPr id="20" name="Shape 15"/>
          <p:cNvSpPr/>
          <p:nvPr/>
        </p:nvSpPr>
        <p:spPr>
          <a:xfrm>
            <a:off x="819302" y="3409798"/>
            <a:ext cx="476402" cy="476402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1949" y="3552444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47495" y="343448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 손상 탐지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447495" y="3682289"/>
            <a:ext cx="35414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해상도가 낮거나 작은 스크래치, 문콕(Dent) 등 미세 파손 식별 난해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71500" y="4315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1500" y="4315054"/>
            <a:ext cx="57607" cy="952805"/>
          </a:xfrm>
          <a:prstGeom prst="rect">
            <a:avLst/>
          </a:prstGeom>
          <a:solidFill>
            <a:srgbClr val="FF7675"/>
          </a:solidFill>
          <a:ln/>
        </p:spPr>
      </p:sp>
      <p:sp>
        <p:nvSpPr>
          <p:cNvPr id="26" name="Shape 20"/>
          <p:cNvSpPr/>
          <p:nvPr/>
        </p:nvSpPr>
        <p:spPr>
          <a:xfrm>
            <a:off x="819302" y="4552798"/>
            <a:ext cx="476402" cy="476402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8174" y="4695444"/>
            <a:ext cx="237744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47495" y="457748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각도 및 배경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447495" y="4825289"/>
            <a:ext cx="315102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촬영 각도의 다양성, 복잡한 배경(타 차량, 행인) 혼선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71500" y="5458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71500" y="5458054"/>
            <a:ext cx="57607" cy="952805"/>
          </a:xfrm>
          <a:prstGeom prst="rect">
            <a:avLst/>
          </a:prstGeom>
          <a:solidFill>
            <a:srgbClr val="FF7675"/>
          </a:solidFill>
          <a:ln/>
        </p:spPr>
      </p:sp>
      <p:sp>
        <p:nvSpPr>
          <p:cNvPr id="32" name="Shape 25"/>
          <p:cNvSpPr/>
          <p:nvPr/>
        </p:nvSpPr>
        <p:spPr>
          <a:xfrm>
            <a:off x="819302" y="5695798"/>
            <a:ext cx="476402" cy="476402"/>
          </a:xfrm>
          <a:prstGeom prst="ellipse">
            <a:avLst/>
          </a:prstGeom>
          <a:solidFill>
            <a:srgbClr val="FFF5F5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972007" y="5838444"/>
            <a:ext cx="171907" cy="19019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447495" y="5720486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 지연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447495" y="5968289"/>
            <a:ext cx="350306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이미지의 Segmentation 추론 시 연산 부하 및 속도 이슈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286500" y="1723644"/>
            <a:ext cx="5333695" cy="19202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91595" y="1295705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172700" y="1238098"/>
            <a:ext cx="1276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89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6286500" y="2029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1562588" y="2029054"/>
            <a:ext cx="57607" cy="952805"/>
          </a:xfrm>
          <a:prstGeom prst="rect">
            <a:avLst/>
          </a:prstGeom>
          <a:solidFill>
            <a:srgbClr val="55EFC4"/>
          </a:solidFill>
          <a:ln/>
        </p:spPr>
      </p:sp>
      <p:sp>
        <p:nvSpPr>
          <p:cNvPr id="41" name="Shape 32"/>
          <p:cNvSpPr/>
          <p:nvPr/>
        </p:nvSpPr>
        <p:spPr>
          <a:xfrm>
            <a:off x="10896905" y="2266798"/>
            <a:ext cx="476402" cy="476402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39551" y="2409444"/>
            <a:ext cx="190195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517636" y="2291486"/>
            <a:ext cx="2343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Data Augmentation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7092086" y="2539289"/>
            <a:ext cx="375086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Gamma Correction, Noise Injection, CLAHE 등을 통한 강건성 확보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6286500" y="3172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11562588" y="3172054"/>
            <a:ext cx="57607" cy="952805"/>
          </a:xfrm>
          <a:prstGeom prst="rect">
            <a:avLst/>
          </a:prstGeom>
          <a:solidFill>
            <a:srgbClr val="55EFC4"/>
          </a:solidFill>
          <a:ln/>
        </p:spPr>
      </p:sp>
      <p:sp>
        <p:nvSpPr>
          <p:cNvPr id="47" name="Shape 37"/>
          <p:cNvSpPr/>
          <p:nvPr/>
        </p:nvSpPr>
        <p:spPr>
          <a:xfrm>
            <a:off x="10896905" y="3409798"/>
            <a:ext cx="476402" cy="476402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11024921" y="3552444"/>
            <a:ext cx="219456" cy="19019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419234" y="3434486"/>
            <a:ext cx="1448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Multi-scale &amp; FPN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7266737" y="3682289"/>
            <a:ext cx="35798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Pyramid Network를 활용하여 다양한 스케일의 특징 추출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286500" y="4315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11562588" y="4315054"/>
            <a:ext cx="57607" cy="952805"/>
          </a:xfrm>
          <a:prstGeom prst="rect">
            <a:avLst/>
          </a:prstGeom>
          <a:solidFill>
            <a:srgbClr val="55EFC4"/>
          </a:solidFill>
          <a:ln/>
        </p:spPr>
      </p:sp>
      <p:sp>
        <p:nvSpPr>
          <p:cNvPr id="53" name="Shape 42"/>
          <p:cNvSpPr/>
          <p:nvPr/>
        </p:nvSpPr>
        <p:spPr>
          <a:xfrm>
            <a:off x="10896905" y="4552798"/>
            <a:ext cx="476402" cy="476402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015777" y="4695444"/>
            <a:ext cx="237744" cy="19019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8618220" y="4577486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 &amp; Semantic Guide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7601407" y="4825289"/>
            <a:ext cx="32369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인식(Parts Seg)과 파손 인식을 결합한 앙상블 모델 적용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6286500" y="5458054"/>
            <a:ext cx="53336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11562588" y="5458054"/>
            <a:ext cx="57607" cy="952805"/>
          </a:xfrm>
          <a:prstGeom prst="rect">
            <a:avLst/>
          </a:prstGeom>
          <a:solidFill>
            <a:srgbClr val="55EFC4"/>
          </a:solidFill>
          <a:ln/>
        </p:spPr>
      </p:sp>
      <p:sp>
        <p:nvSpPr>
          <p:cNvPr id="59" name="Shape 47"/>
          <p:cNvSpPr/>
          <p:nvPr/>
        </p:nvSpPr>
        <p:spPr>
          <a:xfrm>
            <a:off x="10896905" y="5695798"/>
            <a:ext cx="476402" cy="476402"/>
          </a:xfrm>
          <a:prstGeom prst="ellipse">
            <a:avLst/>
          </a:prstGeom>
          <a:solidFill>
            <a:srgbClr val="E6FFFA"/>
          </a:solidFill>
          <a:ln/>
        </p:spPr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039551" y="5838444"/>
            <a:ext cx="190195" cy="19019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9262872" y="572048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Optimization</a:t>
            </a:r>
            <a:endParaRPr lang="en-US" sz="1200" dirty="0"/>
          </a:p>
        </p:txBody>
      </p:sp>
      <p:sp>
        <p:nvSpPr>
          <p:cNvPr id="62" name="Text 49"/>
          <p:cNvSpPr txBox="1"/>
          <p:nvPr/>
        </p:nvSpPr>
        <p:spPr>
          <a:xfrm>
            <a:off x="7060082" y="5968289"/>
            <a:ext cx="377921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TensorRT 변환, Quantization(FP16/INT8), Global Classifier 필터링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64" name="Shape 51"/>
          <p:cNvSpPr/>
          <p:nvPr/>
        </p:nvSpPr>
        <p:spPr>
          <a:xfrm>
            <a:off x="5943600" y="2317090"/>
            <a:ext cx="304495" cy="304495"/>
          </a:xfrm>
          <a:prstGeom prst="ellipse">
            <a:avLst/>
          </a:prstGeom>
          <a:solidFill>
            <a:srgbClr val="0B1E3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6038698" y="2403043"/>
            <a:ext cx="114300" cy="133502"/>
          </a:xfrm>
          <a:prstGeom prst="rect">
            <a:avLst/>
          </a:prstGeom>
        </p:spPr>
      </p:pic>
      <p:sp>
        <p:nvSpPr>
          <p:cNvPr id="66" name="Shape 52"/>
          <p:cNvSpPr/>
          <p:nvPr/>
        </p:nvSpPr>
        <p:spPr>
          <a:xfrm>
            <a:off x="5943600" y="3445459"/>
            <a:ext cx="304495" cy="304495"/>
          </a:xfrm>
          <a:prstGeom prst="ellipse">
            <a:avLst/>
          </a:prstGeom>
          <a:solidFill>
            <a:srgbClr val="0B1E3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6038698" y="3531413"/>
            <a:ext cx="114300" cy="133502"/>
          </a:xfrm>
          <a:prstGeom prst="rect">
            <a:avLst/>
          </a:prstGeom>
        </p:spPr>
      </p:pic>
      <p:sp>
        <p:nvSpPr>
          <p:cNvPr id="68" name="Shape 53"/>
          <p:cNvSpPr/>
          <p:nvPr/>
        </p:nvSpPr>
        <p:spPr>
          <a:xfrm>
            <a:off x="5943600" y="4574743"/>
            <a:ext cx="304495" cy="304495"/>
          </a:xfrm>
          <a:prstGeom prst="ellipse">
            <a:avLst/>
          </a:prstGeom>
          <a:solidFill>
            <a:srgbClr val="0B1E3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6038698" y="4659782"/>
            <a:ext cx="114300" cy="133502"/>
          </a:xfrm>
          <a:prstGeom prst="rect">
            <a:avLst/>
          </a:prstGeom>
        </p:spPr>
      </p:pic>
      <p:sp>
        <p:nvSpPr>
          <p:cNvPr id="70" name="Shape 54"/>
          <p:cNvSpPr/>
          <p:nvPr/>
        </p:nvSpPr>
        <p:spPr>
          <a:xfrm>
            <a:off x="5943600" y="5703113"/>
            <a:ext cx="304495" cy="304495"/>
          </a:xfrm>
          <a:prstGeom prst="ellipse">
            <a:avLst/>
          </a:prstGeom>
          <a:solidFill>
            <a:srgbClr val="0B1E3B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6038698" y="5789066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18288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동향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22131" y="333756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Emerging Tech Trends in AI Damage Detection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52398"/>
            <a:ext cx="3534156" cy="4953305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500" y="1352398"/>
            <a:ext cx="3534156" cy="57607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1410005"/>
            <a:ext cx="3534156" cy="2686507"/>
          </a:xfrm>
          <a:prstGeom prst="rect">
            <a:avLst/>
          </a:prstGeom>
          <a:solidFill>
            <a:srgbClr val="5F27CD">
              <a:alpha val="5000"/>
            </a:srgbClr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274000" r="-274000"/>
          <a:stretch/>
        </p:blipFill>
        <p:spPr>
          <a:xfrm>
            <a:off x="857707" y="1695298"/>
            <a:ext cx="2962656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57707" y="2305202"/>
            <a:ext cx="2391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Transformer-based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7707" y="2579522"/>
            <a:ext cx="1772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Models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" y="2996489"/>
            <a:ext cx="300289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CNN을 넘어선 차세대 아키텍처. ViT와 DINO, MAE 등 Self-supervised Learning 기술이 결합되어 데이터 의존도를 획기적으로 낮추고 성능을 향상시킴.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7707" y="4377233"/>
            <a:ext cx="2962656" cy="1314907"/>
          </a:xfrm>
          <a:prstGeom prst="roundRect">
            <a:avLst>
              <a:gd name="adj" fmla="val 4031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9556" y="4539996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12E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ADVANTAGES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" y="4806086"/>
            <a:ext cx="1871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Context 파악 능력 우수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19556" y="5073091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소량의 데이터로 강력한 사전학습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" y="5340096"/>
            <a:ext cx="2119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Masked Autoencoders(MAE) 활용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57707" y="5882335"/>
            <a:ext cx="35204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52805" y="5920740"/>
            <a:ext cx="241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282903" y="5882335"/>
            <a:ext cx="609905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378915" y="5920740"/>
            <a:ext cx="4983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DINO v2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964131" y="5882335"/>
            <a:ext cx="1104595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059229" y="5920740"/>
            <a:ext cx="9930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 Transformer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330598" y="1352398"/>
            <a:ext cx="3534156" cy="2361895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30598" y="1352398"/>
            <a:ext cx="47549" cy="2361895"/>
          </a:xfrm>
          <a:prstGeom prst="rect">
            <a:avLst/>
          </a:prstGeom>
          <a:solidFill>
            <a:srgbClr val="FF9F43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 l="-13470" r="-13470"/>
          <a:stretch/>
        </p:blipFill>
        <p:spPr>
          <a:xfrm>
            <a:off x="4606747" y="1580998"/>
            <a:ext cx="381305" cy="26700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139842" y="1585570"/>
            <a:ext cx="1386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Multi-modal AI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606747" y="2000707"/>
            <a:ext cx="311993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이미지뿐만 아니라 텍스트(수리 내역서, 부품 카탈로그), 음성(운전자 설명) 데이터를 결합하여 정확도 향상. CLIP 기반 모델 활용.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06747" y="3252521"/>
            <a:ext cx="42885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701845" y="3290926"/>
            <a:ext cx="3172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CLIP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103266" y="3252521"/>
            <a:ext cx="1238098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199278" y="3290926"/>
            <a:ext cx="11265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Text-Image Retrieval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414516" y="3252521"/>
            <a:ext cx="100035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509614" y="3290926"/>
            <a:ext cx="8887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Integration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8089697" y="1352398"/>
            <a:ext cx="3534156" cy="2361895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089697" y="1352398"/>
            <a:ext cx="47549" cy="2361895"/>
          </a:xfrm>
          <a:prstGeom prst="rect">
            <a:avLst/>
          </a:prstGeom>
          <a:solidFill>
            <a:srgbClr val="00D2D3"/>
          </a:solidFill>
          <a:ln/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 l="-13470" r="-13470"/>
          <a:stretch/>
        </p:blipFill>
        <p:spPr>
          <a:xfrm>
            <a:off x="8365846" y="1580998"/>
            <a:ext cx="381305" cy="267005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8899855" y="1585570"/>
            <a:ext cx="1414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&amp; Geometry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8365846" y="2000707"/>
            <a:ext cx="309158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 사진에서 3D 형상을 복원하거나 NeRF(Neural Radiance Fields)를 활용해 깊이(Depth)와 부피 손상을 정밀 측정.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8365846" y="3252521"/>
            <a:ext cx="46634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460943" y="3290926"/>
            <a:ext cx="355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NeRF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8900770" y="3252521"/>
            <a:ext cx="1076249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996782" y="3290926"/>
            <a:ext cx="9646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Depth Estimation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10052914" y="3252521"/>
            <a:ext cx="1067105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10148011" y="3290926"/>
            <a:ext cx="9555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Photogrammetry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330598" y="3943807"/>
            <a:ext cx="3534156" cy="2361895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4330598" y="3943807"/>
            <a:ext cx="47549" cy="2361895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rcRect l="-45205" r="-45205"/>
          <a:stretch/>
        </p:blipFill>
        <p:spPr>
          <a:xfrm>
            <a:off x="4606747" y="4172407"/>
            <a:ext cx="381305" cy="267005"/>
          </a:xfrm>
          <a:prstGeom prst="rect">
            <a:avLst/>
          </a:prstGeom>
        </p:spPr>
      </p:pic>
      <p:sp>
        <p:nvSpPr>
          <p:cNvPr id="51" name="Text 45"/>
          <p:cNvSpPr txBox="1"/>
          <p:nvPr/>
        </p:nvSpPr>
        <p:spPr>
          <a:xfrm>
            <a:off x="5139842" y="4176979"/>
            <a:ext cx="1338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&amp; Mobile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4606747" y="4591202"/>
            <a:ext cx="301477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통신 없이 스마트폰 자체에서 추론. 경량화(Quantization), Pruning, NPU 가속을 통해 실시간 AR 가이드 제공.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606747" y="5843930"/>
            <a:ext cx="666598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4701845" y="5881421"/>
            <a:ext cx="5550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TensorRT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5348326" y="5843930"/>
            <a:ext cx="58064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5443423" y="5881421"/>
            <a:ext cx="470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CoreML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5998464" y="5843930"/>
            <a:ext cx="514807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6094476" y="5881421"/>
            <a:ext cx="4032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TFLite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8089697" y="3943807"/>
            <a:ext cx="3534156" cy="2361895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/>
          <a:effectLst>
            <a:outerShdw blurRad="1397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54"/>
          <p:cNvSpPr/>
          <p:nvPr/>
        </p:nvSpPr>
        <p:spPr>
          <a:xfrm>
            <a:off x="8089697" y="3943807"/>
            <a:ext cx="47549" cy="2361895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rcRect l="-45205" r="-45205"/>
          <a:stretch/>
        </p:blipFill>
        <p:spPr>
          <a:xfrm>
            <a:off x="8365846" y="4172407"/>
            <a:ext cx="381305" cy="267005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8899855" y="4176979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Automated Assessment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8365846" y="4591202"/>
            <a:ext cx="3110789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파손 탐지를 넘어, 부품 가격 DB와 공임 시간을 연동하여 최종 수리 견적서까지 자동 생성하는 End-to-End 자동화.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8365846" y="5843930"/>
            <a:ext cx="1000354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8460943" y="5881421"/>
            <a:ext cx="8887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Estimation</a:t>
            </a:r>
            <a:endParaRPr lang="en-US" sz="800" dirty="0"/>
          </a:p>
        </p:txBody>
      </p:sp>
      <p:sp>
        <p:nvSpPr>
          <p:cNvPr id="66" name="Shape 59"/>
          <p:cNvSpPr/>
          <p:nvPr/>
        </p:nvSpPr>
        <p:spPr>
          <a:xfrm>
            <a:off x="9434779" y="5843930"/>
            <a:ext cx="1399946" cy="237744"/>
          </a:xfrm>
          <a:prstGeom prst="roundRect">
            <a:avLst>
              <a:gd name="adj" fmla="val 61538"/>
            </a:avLst>
          </a:prstGeom>
          <a:solidFill>
            <a:srgbClr val="F1F2F6"/>
          </a:solidFill>
          <a:ln/>
        </p:spPr>
      </p:sp>
      <p:sp>
        <p:nvSpPr>
          <p:cNvPr id="67" name="Text 60"/>
          <p:cNvSpPr txBox="1"/>
          <p:nvPr/>
        </p:nvSpPr>
        <p:spPr>
          <a:xfrm>
            <a:off x="9529877" y="5881421"/>
            <a:ext cx="12883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Replacement Logic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35433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전망 (Future Outlook)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955634" y="333756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 for AI-Driven Vehicle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5943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3599078" y="1462126"/>
            <a:ext cx="5000854" cy="543154"/>
          </a:xfrm>
          <a:prstGeom prst="roundRect">
            <a:avLst>
              <a:gd name="adj" fmla="val 14767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9078" y="1462126"/>
            <a:ext cx="47549" cy="543154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31920" y="1604772"/>
            <a:ext cx="4510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파손 탐지를 넘어 완전 자동화된 차량 관리 생태계로 진화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2805" y="4367174"/>
            <a:ext cx="10287000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801307"/>
            <a:ext cx="12191695" cy="576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" y="3719779"/>
            <a:ext cx="1809598" cy="2095805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" y="3719779"/>
            <a:ext cx="1809598" cy="38405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5391302"/>
            <a:ext cx="1429207" cy="237744"/>
          </a:xfrm>
          <a:prstGeom prst="roundRect">
            <a:avLst>
              <a:gd name="adj" fmla="val 307692"/>
            </a:avLst>
          </a:prstGeom>
          <a:solidFill>
            <a:srgbClr val="F1F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04595" y="392917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자동화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75004" y="41276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 청구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80898" y="4458614"/>
            <a:ext cx="149321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업로드부터 파손 판독, 견적 산출, 보험금 승인까지 인간 개입 없는 One-Stop 프로세스 구현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5429707"/>
            <a:ext cx="9555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Touchless Claims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300277" y="2671877"/>
            <a:ext cx="452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D2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90549" y="2957170"/>
            <a:ext cx="571500" cy="571500"/>
          </a:xfrm>
          <a:prstGeom prst="ellipse">
            <a:avLst/>
          </a:prstGeom>
          <a:solidFill>
            <a:srgbClr val="00D2D3"/>
          </a:solidFill>
          <a:ln w="50800">
            <a:solidFill>
              <a:srgbClr val="00D2D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390802" y="3129077"/>
            <a:ext cx="171907" cy="2286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881274" y="3719779"/>
            <a:ext cx="1809598" cy="2095805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81274" y="3719779"/>
            <a:ext cx="1809598" cy="38405"/>
          </a:xfrm>
          <a:prstGeom prst="rect">
            <a:avLst/>
          </a:prstGeom>
          <a:solidFill>
            <a:srgbClr val="48DBFB"/>
          </a:solidFill>
          <a:ln/>
        </p:spPr>
      </p:sp>
      <p:sp>
        <p:nvSpPr>
          <p:cNvPr id="25" name="Shape 22"/>
          <p:cNvSpPr/>
          <p:nvPr/>
        </p:nvSpPr>
        <p:spPr>
          <a:xfrm>
            <a:off x="3071470" y="5391302"/>
            <a:ext cx="1429207" cy="237744"/>
          </a:xfrm>
          <a:prstGeom prst="roundRect">
            <a:avLst>
              <a:gd name="adj" fmla="val 307692"/>
            </a:avLst>
          </a:prstGeom>
          <a:solidFill>
            <a:srgbClr val="F1F2F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575304" y="392917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수리비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484778" y="41276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견적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073298" y="4458614"/>
            <a:ext cx="152247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정비소 부품/공임 DB와 연동하여 파손 난이도에 따른 정확한 수리 비용 및 시간 실시간 산출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340303" y="5429707"/>
            <a:ext cx="9747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Estimation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3360420" y="2671877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 TERM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500323" y="2957170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48DBFB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72230" y="3129077"/>
            <a:ext cx="228600" cy="2286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191049" y="3719779"/>
            <a:ext cx="1809598" cy="2095805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191049" y="3719779"/>
            <a:ext cx="1809598" cy="38405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5" name="Shape 31"/>
          <p:cNvSpPr/>
          <p:nvPr/>
        </p:nvSpPr>
        <p:spPr>
          <a:xfrm>
            <a:off x="5381244" y="5391302"/>
            <a:ext cx="1429207" cy="237744"/>
          </a:xfrm>
          <a:prstGeom prst="roundRect">
            <a:avLst>
              <a:gd name="adj" fmla="val 307692"/>
            </a:avLst>
          </a:prstGeom>
          <a:solidFill>
            <a:srgbClr val="F1F2F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5724144" y="392917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차량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653735" y="4127602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모니터링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5383073" y="4458614"/>
            <a:ext cx="152247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카셰어링/플릿 차량의 상태를 상시 모니터링하여 파손 즉시 감지 및 예방 정비 알림 발송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5658307" y="5429707"/>
            <a:ext cx="9555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Fleet Intelligence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5727802" y="2671877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 TERM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5810098" y="2957170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E86DE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82005" y="3129077"/>
            <a:ext cx="228600" cy="2286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7500823" y="3719779"/>
            <a:ext cx="1809598" cy="2095805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500823" y="3719779"/>
            <a:ext cx="1809598" cy="38405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45" name="Shape 40"/>
          <p:cNvSpPr/>
          <p:nvPr/>
        </p:nvSpPr>
        <p:spPr>
          <a:xfrm>
            <a:off x="7691018" y="5391302"/>
            <a:ext cx="1429207" cy="237744"/>
          </a:xfrm>
          <a:prstGeom prst="roundRect">
            <a:avLst>
              <a:gd name="adj" fmla="val 307692"/>
            </a:avLst>
          </a:prstGeom>
          <a:solidFill>
            <a:srgbClr val="F1F2F6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963510" y="3929177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블록체인 기반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8104327" y="4127602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관리</a:t>
            </a:r>
            <a:endParaRPr lang="en-US" sz="1200" dirty="0"/>
          </a:p>
        </p:txBody>
      </p:sp>
      <p:sp>
        <p:nvSpPr>
          <p:cNvPr id="48" name="Text 43"/>
          <p:cNvSpPr txBox="1"/>
          <p:nvPr/>
        </p:nvSpPr>
        <p:spPr>
          <a:xfrm>
            <a:off x="7692847" y="4458614"/>
            <a:ext cx="152247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차량의 파손, 수리, 부품 교체 등 모든 생애 주기 데이터를 위변조 불가능한 블록체인에 기록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7865669" y="5429707"/>
            <a:ext cx="11649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Trust &amp; Transparency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7974482" y="2671877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 TERM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8119872" y="2957170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F27CD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8262518" y="3129077"/>
            <a:ext cx="286207" cy="228600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9810598" y="3719779"/>
            <a:ext cx="1809598" cy="2095805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810598" y="3719779"/>
            <a:ext cx="1809598" cy="38405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55" name="Shape 49"/>
          <p:cNvSpPr/>
          <p:nvPr/>
        </p:nvSpPr>
        <p:spPr>
          <a:xfrm>
            <a:off x="10001707" y="5391302"/>
            <a:ext cx="1429207" cy="237744"/>
          </a:xfrm>
          <a:prstGeom prst="roundRect">
            <a:avLst>
              <a:gd name="adj" fmla="val 307692"/>
            </a:avLst>
          </a:prstGeom>
          <a:solidFill>
            <a:srgbClr val="F1F2F6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10364724" y="3929177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자율주행차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10343693" y="4127602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시스템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10016338" y="4458614"/>
            <a:ext cx="1493215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자율주행 센서(LiDAR, 카메라) 데이터와 연계하여 사고 발생 시 원인 분석부터 처리까지 자동화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10108692" y="5429707"/>
            <a:ext cx="12984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Autonomous Ecosystem</a:t>
            </a:r>
            <a:endParaRPr lang="en-US" sz="800" dirty="0"/>
          </a:p>
        </p:txBody>
      </p:sp>
      <p:sp>
        <p:nvSpPr>
          <p:cNvPr id="60" name="Text 54"/>
          <p:cNvSpPr txBox="1"/>
          <p:nvPr/>
        </p:nvSpPr>
        <p:spPr>
          <a:xfrm>
            <a:off x="10420502" y="2671877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10429646" y="2957170"/>
            <a:ext cx="571500" cy="571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9F43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3207" y="3129077"/>
            <a:ext cx="286207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0898" y="228600"/>
            <a:ext cx="15819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요약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9773107" y="333756"/>
            <a:ext cx="1948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 &amp; Future Roadmap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57707"/>
            <a:ext cx="12191695" cy="639165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38098"/>
            <a:ext cx="38405" cy="200254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5002" y="1238098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(CORE VALUES)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" y="1514246"/>
            <a:ext cx="3534156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1500" y="1514246"/>
            <a:ext cx="3534156" cy="38405"/>
          </a:xfrm>
          <a:prstGeom prst="rect">
            <a:avLst/>
          </a:prstGeom>
          <a:solidFill>
            <a:srgbClr val="00D2D3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0999" y="1781251"/>
            <a:ext cx="571500" cy="571500"/>
          </a:xfrm>
          <a:prstGeom prst="ellipse">
            <a:avLst/>
          </a:prstGeom>
          <a:solidFill>
            <a:srgbClr val="00D2D3">
              <a:alpha val="10000"/>
            </a:srgbClr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2236622" y="1952244"/>
            <a:ext cx="200254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12671" y="2505456"/>
            <a:ext cx="1386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및 시간 절감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7415" y="2838298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자동화로 검수 시간 90% 단축 및 인건비 효율화 달성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30598" y="1514246"/>
            <a:ext cx="3534156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30598" y="1514246"/>
            <a:ext cx="3534156" cy="38405"/>
          </a:xfrm>
          <a:prstGeom prst="rect">
            <a:avLst/>
          </a:prstGeom>
          <a:solidFill>
            <a:srgbClr val="5F27CD"/>
          </a:solidFill>
          <a:ln/>
        </p:spPr>
      </p:sp>
      <p:sp>
        <p:nvSpPr>
          <p:cNvPr id="18" name="Shape 15"/>
          <p:cNvSpPr/>
          <p:nvPr/>
        </p:nvSpPr>
        <p:spPr>
          <a:xfrm>
            <a:off x="5810098" y="1781251"/>
            <a:ext cx="571500" cy="571500"/>
          </a:xfrm>
          <a:prstGeom prst="ellipse">
            <a:avLst/>
          </a:prstGeom>
          <a:solidFill>
            <a:srgbClr val="5F27CD">
              <a:alpha val="10000"/>
            </a:srgb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2005" y="1952244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08676" y="2505456"/>
            <a:ext cx="15105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분석 &amp; 일관성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8401" y="2838298"/>
            <a:ext cx="3139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픽셀 단위 탐지로 인적 오류 최소화 및 일관된 손해 평가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89697" y="1514246"/>
            <a:ext cx="3534156" cy="1952244"/>
          </a:xfrm>
          <a:prstGeom prst="roundRect">
            <a:avLst>
              <a:gd name="adj" fmla="val 2742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89697" y="1514246"/>
            <a:ext cx="3534156" cy="38405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4" name="Shape 20"/>
          <p:cNvSpPr/>
          <p:nvPr/>
        </p:nvSpPr>
        <p:spPr>
          <a:xfrm>
            <a:off x="9569196" y="1781251"/>
            <a:ext cx="571500" cy="571500"/>
          </a:xfrm>
          <a:prstGeom prst="ellipse">
            <a:avLst/>
          </a:prstGeom>
          <a:solidFill>
            <a:srgbClr val="FF9F43">
              <a:alpha val="10000"/>
            </a:srgbClr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711842" y="1952244"/>
            <a:ext cx="286207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334195" y="2505456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경험 혁신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374990" y="2838298"/>
            <a:ext cx="30623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신속한 보상 처리와 투명한 근거 제공으로 고객 신뢰도 향상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71500" y="3791102"/>
            <a:ext cx="38405" cy="200254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05002" y="3791102"/>
            <a:ext cx="2462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임팩트 (INDUSTRIAL IMPACT)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71500" y="4067251"/>
            <a:ext cx="11048695" cy="1238098"/>
          </a:xfrm>
          <a:prstGeom prst="roundRect">
            <a:avLst>
              <a:gd name="adj" fmla="val 6817"/>
            </a:avLst>
          </a:prstGeom>
          <a:solidFill>
            <a:srgbClr val="0B1E3B"/>
          </a:solidFill>
          <a:ln/>
        </p:spPr>
      </p:sp>
      <p:sp>
        <p:nvSpPr>
          <p:cNvPr id="31" name="Shape 26"/>
          <p:cNvSpPr/>
          <p:nvPr/>
        </p:nvSpPr>
        <p:spPr>
          <a:xfrm>
            <a:off x="571500" y="5533949"/>
            <a:ext cx="38405" cy="200254"/>
          </a:xfrm>
          <a:prstGeom prst="rect">
            <a:avLst/>
          </a:prstGeom>
          <a:solidFill>
            <a:srgbClr val="0B1E3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05002" y="5533949"/>
            <a:ext cx="1739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 (NEXT STEPS)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71500" y="5810098"/>
            <a:ext cx="3353105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300984" y="5924398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4108399" y="6240780"/>
            <a:ext cx="123444" cy="190195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4422953" y="5810098"/>
            <a:ext cx="3353105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152437" y="5924398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7959852" y="6240780"/>
            <a:ext cx="123444" cy="19019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274406" y="5810098"/>
            <a:ext cx="3353105" cy="1057046"/>
          </a:xfrm>
          <a:prstGeom prst="roundRect">
            <a:avLst>
              <a:gd name="adj" fmla="val 93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1003890" y="5924398"/>
            <a:ext cx="7525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0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30054" y="4000500"/>
            <a:ext cx="1399946" cy="1399946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771754" y="6048756"/>
            <a:ext cx="133502" cy="152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81151" y="6010351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고도화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771754" y="6305702"/>
            <a:ext cx="299831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엣지 케이스 및 다양한 환경 데이터 지속적 축적으로 모델 강건성 확보</a:t>
            </a:r>
            <a:endParaRPr lang="en-US" sz="9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4623206" y="6048756"/>
            <a:ext cx="190195" cy="152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4889297" y="6010351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&amp; Governance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4623206" y="6305702"/>
            <a:ext cx="304586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재학습 파이프라인 구축 및 AI 윤리/편향성 검증 체계 마련</a:t>
            </a:r>
            <a:endParaRPr lang="en-US" sz="9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3745" y="6048756"/>
            <a:ext cx="152705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702345" y="6010351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최적화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8473745" y="6305702"/>
            <a:ext cx="285567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36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엣지 컴퓨팅 적용 및 타 시스템(ERP, 견적)과의 API 통합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952805" y="4395521"/>
            <a:ext cx="37197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2D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 (DX) 가속화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952805" y="4748479"/>
            <a:ext cx="5677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보험, 렌터카, 중고차 시장의 아날로그 프로세스를 데이터 기반 디지털 워크플로우로 전환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9902038" y="4352544"/>
            <a:ext cx="1343254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10209276" y="4457700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ROI</a:t>
            </a:r>
            <a:endParaRPr lang="en-US" sz="1500" dirty="0"/>
          </a:p>
        </p:txBody>
      </p:sp>
      <p:sp>
        <p:nvSpPr>
          <p:cNvPr id="55" name="Text 44"/>
          <p:cNvSpPr txBox="1"/>
          <p:nvPr/>
        </p:nvSpPr>
        <p:spPr>
          <a:xfrm>
            <a:off x="10102291" y="4743907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2BEC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 대비 높은 효율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2249</Words>
  <Application>Microsoft Office PowerPoint</Application>
  <PresentationFormat>와이드스크린</PresentationFormat>
  <Paragraphs>450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Noto Sans KR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Eunyoung Song</cp:lastModifiedBy>
  <cp:revision>4</cp:revision>
  <dcterms:created xsi:type="dcterms:W3CDTF">2025-12-22T02:14:55Z</dcterms:created>
  <dcterms:modified xsi:type="dcterms:W3CDTF">2025-12-23T03:43:36Z</dcterms:modified>
</cp:coreProperties>
</file>